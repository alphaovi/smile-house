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notesSlides/notesSlide8.xml" ContentType="application/vnd.openxmlformats-officedocument.presentationml.notesSlide+xml"/>
  <Override PartName="/ppt/ink/ink8.xml" ContentType="application/inkml+xml"/>
  <Override PartName="/ppt/notesSlides/notesSlide9.xml" ContentType="application/vnd.openxmlformats-officedocument.presentationml.notesSlide+xml"/>
  <Override PartName="/ppt/ink/ink9.xml" ContentType="application/inkml+xml"/>
  <Override PartName="/ppt/notesSlides/notesSlide10.xml" ContentType="application/vnd.openxmlformats-officedocument.presentationml.notesSlide+xml"/>
  <Override PartName="/ppt/ink/ink10.xml" ContentType="application/inkml+xml"/>
  <Override PartName="/ppt/notesSlides/notesSlide11.xml" ContentType="application/vnd.openxmlformats-officedocument.presentationml.notesSlide+xml"/>
  <Override PartName="/ppt/ink/ink11.xml" ContentType="application/inkml+xml"/>
  <Override PartName="/ppt/notesSlides/notesSlide12.xml" ContentType="application/vnd.openxmlformats-officedocument.presentationml.notesSlide+xml"/>
  <Override PartName="/ppt/ink/ink12.xml" ContentType="application/inkml+xml"/>
  <Override PartName="/ppt/notesSlides/notesSlide13.xml" ContentType="application/vnd.openxmlformats-officedocument.presentationml.notesSlide+xml"/>
  <Override PartName="/ppt/ink/ink13.xml" ContentType="application/inkml+xml"/>
  <Override PartName="/ppt/notesSlides/notesSlide14.xml" ContentType="application/vnd.openxmlformats-officedocument.presentationml.notesSlide+xml"/>
  <Override PartName="/ppt/ink/ink14.xml" ContentType="application/inkml+xml"/>
  <Override PartName="/ppt/notesSlides/notesSlide15.xml" ContentType="application/vnd.openxmlformats-officedocument.presentationml.notesSlide+xml"/>
  <Override PartName="/ppt/ink/ink15.xml" ContentType="application/inkml+xml"/>
  <Override PartName="/ppt/notesSlides/notesSlide16.xml" ContentType="application/vnd.openxmlformats-officedocument.presentationml.notesSlide+xml"/>
  <Override PartName="/ppt/ink/ink16.xml" ContentType="application/inkml+xml"/>
  <Override PartName="/ppt/notesSlides/notesSlide17.xml" ContentType="application/vnd.openxmlformats-officedocument.presentationml.notesSlide+xml"/>
  <Override PartName="/ppt/ink/ink17.xml" ContentType="application/inkml+xml"/>
  <Override PartName="/ppt/notesSlides/notesSlide18.xml" ContentType="application/vnd.openxmlformats-officedocument.presentationml.notesSlide+xml"/>
  <Override PartName="/ppt/ink/ink18.xml" ContentType="application/inkml+xml"/>
  <Override PartName="/ppt/notesSlides/notesSlide19.xml" ContentType="application/vnd.openxmlformats-officedocument.presentationml.notesSlide+xml"/>
  <Override PartName="/ppt/ink/ink19.xml" ContentType="application/inkml+xml"/>
  <Override PartName="/ppt/notesSlides/notesSlide20.xml" ContentType="application/vnd.openxmlformats-officedocument.presentationml.notesSlide+xml"/>
  <Override PartName="/ppt/ink/ink20.xml" ContentType="application/inkml+xml"/>
  <Override PartName="/ppt/notesSlides/notesSlide21.xml" ContentType="application/vnd.openxmlformats-officedocument.presentationml.notesSlide+xml"/>
  <Override PartName="/ppt/ink/ink21.xml" ContentType="application/inkml+xml"/>
  <Override PartName="/ppt/notesSlides/notesSlide22.xml" ContentType="application/vnd.openxmlformats-officedocument.presentationml.notesSlide+xml"/>
  <Override PartName="/ppt/ink/ink22.xml" ContentType="application/inkml+xml"/>
  <Override PartName="/ppt/notesSlides/notesSlide23.xml" ContentType="application/vnd.openxmlformats-officedocument.presentationml.notesSlide+xml"/>
  <Override PartName="/ppt/ink/ink23.xml" ContentType="application/inkml+xml"/>
  <Override PartName="/ppt/notesSlides/notesSlide24.xml" ContentType="application/vnd.openxmlformats-officedocument.presentationml.notesSlide+xml"/>
  <Override PartName="/ppt/ink/ink24.xml" ContentType="application/inkml+xml"/>
  <Override PartName="/ppt/notesSlides/notesSlide25.xml" ContentType="application/vnd.openxmlformats-officedocument.presentationml.notesSlide+xml"/>
  <Override PartName="/ppt/ink/ink25.xml" ContentType="application/inkml+xml"/>
  <Override PartName="/ppt/notesSlides/notesSlide26.xml" ContentType="application/vnd.openxmlformats-officedocument.presentationml.notesSlide+xml"/>
  <Override PartName="/ppt/ink/ink26.xml" ContentType="application/inkml+xml"/>
  <Override PartName="/ppt/notesSlides/notesSlide27.xml" ContentType="application/vnd.openxmlformats-officedocument.presentationml.notesSlide+xml"/>
  <Override PartName="/ppt/ink/ink27.xml" ContentType="application/inkml+xml"/>
  <Override PartName="/ppt/notesSlides/notesSlide28.xml" ContentType="application/vnd.openxmlformats-officedocument.presentationml.notesSlide+xml"/>
  <Override PartName="/ppt/ink/ink28.xml" ContentType="application/inkml+xml"/>
  <Override PartName="/ppt/notesSlides/notesSlide29.xml" ContentType="application/vnd.openxmlformats-officedocument.presentationml.notesSlide+xml"/>
  <Override PartName="/ppt/ink/ink29.xml" ContentType="application/inkml+xml"/>
  <Override PartName="/ppt/notesSlides/notesSlide30.xml" ContentType="application/vnd.openxmlformats-officedocument.presentationml.notesSlide+xml"/>
  <Override PartName="/ppt/ink/ink30.xml" ContentType="application/inkml+xml"/>
  <Override PartName="/ppt/notesSlides/notesSlide31.xml" ContentType="application/vnd.openxmlformats-officedocument.presentationml.notesSlide+xml"/>
  <Override PartName="/ppt/ink/ink31.xml" ContentType="application/inkml+xml"/>
  <Override PartName="/ppt/notesSlides/notesSlide32.xml" ContentType="application/vnd.openxmlformats-officedocument.presentationml.notesSlide+xml"/>
  <Override PartName="/ppt/ink/ink32.xml" ContentType="application/inkml+xml"/>
  <Override PartName="/ppt/notesSlides/notesSlide33.xml" ContentType="application/vnd.openxmlformats-officedocument.presentationml.notesSlide+xml"/>
  <Override PartName="/ppt/ink/ink33.xml" ContentType="application/inkml+xml"/>
  <Override PartName="/ppt/notesSlides/notesSlide34.xml" ContentType="application/vnd.openxmlformats-officedocument.presentationml.notesSlide+xml"/>
  <Override PartName="/ppt/ink/ink34.xml" ContentType="application/inkml+xml"/>
  <Override PartName="/ppt/notesSlides/notesSlide35.xml" ContentType="application/vnd.openxmlformats-officedocument.presentationml.notesSlide+xml"/>
  <Override PartName="/ppt/ink/ink35.xml" ContentType="application/inkml+xml"/>
  <Override PartName="/ppt/notesSlides/notesSlide36.xml" ContentType="application/vnd.openxmlformats-officedocument.presentationml.notesSlide+xml"/>
  <Override PartName="/ppt/ink/ink36.xml" ContentType="application/inkml+xml"/>
  <Override PartName="/ppt/notesSlides/notesSlide37.xml" ContentType="application/vnd.openxmlformats-officedocument.presentationml.notesSlide+xml"/>
  <Override PartName="/ppt/ink/ink37.xml" ContentType="application/inkml+xml"/>
  <Override PartName="/ppt/notesSlides/notesSlide38.xml" ContentType="application/vnd.openxmlformats-officedocument.presentationml.notesSlide+xml"/>
  <Override PartName="/ppt/ink/ink38.xml" ContentType="application/inkml+xml"/>
  <Override PartName="/ppt/notesSlides/notesSlide39.xml" ContentType="application/vnd.openxmlformats-officedocument.presentationml.notesSlide+xml"/>
  <Override PartName="/ppt/ink/ink39.xml" ContentType="application/inkml+xml"/>
  <Override PartName="/ppt/notesSlides/notesSlide40.xml" ContentType="application/vnd.openxmlformats-officedocument.presentationml.notesSlide+xml"/>
  <Override PartName="/ppt/ink/ink40.xml" ContentType="application/inkml+xml"/>
  <Override PartName="/ppt/notesSlides/notesSlide41.xml" ContentType="application/vnd.openxmlformats-officedocument.presentationml.notesSlide+xml"/>
  <Override PartName="/ppt/ink/ink4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8"/>
  </p:notesMasterIdLst>
  <p:sldIdLst>
    <p:sldId id="256" r:id="rId2"/>
    <p:sldId id="301" r:id="rId3"/>
    <p:sldId id="258" r:id="rId4"/>
    <p:sldId id="303" r:id="rId5"/>
    <p:sldId id="259" r:id="rId6"/>
    <p:sldId id="304" r:id="rId7"/>
    <p:sldId id="266" r:id="rId8"/>
    <p:sldId id="267" r:id="rId9"/>
    <p:sldId id="305" r:id="rId10"/>
    <p:sldId id="268" r:id="rId11"/>
    <p:sldId id="269" r:id="rId12"/>
    <p:sldId id="277" r:id="rId13"/>
    <p:sldId id="270" r:id="rId14"/>
    <p:sldId id="302" r:id="rId15"/>
    <p:sldId id="257" r:id="rId16"/>
    <p:sldId id="261" r:id="rId17"/>
    <p:sldId id="272" r:id="rId18"/>
    <p:sldId id="271" r:id="rId19"/>
    <p:sldId id="295" r:id="rId20"/>
    <p:sldId id="306" r:id="rId21"/>
    <p:sldId id="307" r:id="rId22"/>
    <p:sldId id="273" r:id="rId23"/>
    <p:sldId id="300" r:id="rId24"/>
    <p:sldId id="276" r:id="rId25"/>
    <p:sldId id="274" r:id="rId26"/>
    <p:sldId id="275" r:id="rId27"/>
    <p:sldId id="278" r:id="rId28"/>
    <p:sldId id="279" r:id="rId29"/>
    <p:sldId id="280" r:id="rId30"/>
    <p:sldId id="281" r:id="rId31"/>
    <p:sldId id="282" r:id="rId32"/>
    <p:sldId id="283" r:id="rId33"/>
    <p:sldId id="284" r:id="rId34"/>
    <p:sldId id="288" r:id="rId35"/>
    <p:sldId id="286" r:id="rId36"/>
    <p:sldId id="287" r:id="rId37"/>
    <p:sldId id="289" r:id="rId38"/>
    <p:sldId id="291" r:id="rId39"/>
    <p:sldId id="290" r:id="rId40"/>
    <p:sldId id="292" r:id="rId41"/>
    <p:sldId id="293" r:id="rId42"/>
    <p:sldId id="294" r:id="rId43"/>
    <p:sldId id="296" r:id="rId44"/>
    <p:sldId id="297" r:id="rId45"/>
    <p:sldId id="298" r:id="rId46"/>
    <p:sldId id="299"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6-04T04:11:59.185"/>
    </inkml:context>
    <inkml:brush xml:id="br0">
      <inkml:brushProperty name="width" value="0.05" units="cm"/>
      <inkml:brushProperty name="height" value="0.05" units="cm"/>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A612D-4037-4E75-A3A6-A446AFF9F433}" type="datetimeFigureOut">
              <a:rPr lang="en-US" smtClean="0"/>
              <a:t>7/11/2022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AD699A-58F6-4937-AB83-93359683FFEE}" type="slidenum">
              <a:rPr lang="en-US" smtClean="0"/>
              <a:t>‹#›</a:t>
            </a:fld>
            <a:endParaRPr lang="en-US"/>
          </a:p>
        </p:txBody>
      </p:sp>
    </p:spTree>
    <p:extLst>
      <p:ext uri="{BB962C8B-B14F-4D97-AF65-F5344CB8AC3E}">
        <p14:creationId xmlns:p14="http://schemas.microsoft.com/office/powerpoint/2010/main" val="2117372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5</a:t>
            </a:fld>
            <a:endParaRPr lang="en-US"/>
          </a:p>
        </p:txBody>
      </p:sp>
    </p:spTree>
    <p:extLst>
      <p:ext uri="{BB962C8B-B14F-4D97-AF65-F5344CB8AC3E}">
        <p14:creationId xmlns:p14="http://schemas.microsoft.com/office/powerpoint/2010/main" val="994301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6</a:t>
            </a:fld>
            <a:endParaRPr lang="en-US"/>
          </a:p>
        </p:txBody>
      </p:sp>
    </p:spTree>
    <p:extLst>
      <p:ext uri="{BB962C8B-B14F-4D97-AF65-F5344CB8AC3E}">
        <p14:creationId xmlns:p14="http://schemas.microsoft.com/office/powerpoint/2010/main" val="950435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7</a:t>
            </a:fld>
            <a:endParaRPr lang="en-US"/>
          </a:p>
        </p:txBody>
      </p:sp>
    </p:spTree>
    <p:extLst>
      <p:ext uri="{BB962C8B-B14F-4D97-AF65-F5344CB8AC3E}">
        <p14:creationId xmlns:p14="http://schemas.microsoft.com/office/powerpoint/2010/main" val="608256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8</a:t>
            </a:fld>
            <a:endParaRPr lang="en-US"/>
          </a:p>
        </p:txBody>
      </p:sp>
    </p:spTree>
    <p:extLst>
      <p:ext uri="{BB962C8B-B14F-4D97-AF65-F5344CB8AC3E}">
        <p14:creationId xmlns:p14="http://schemas.microsoft.com/office/powerpoint/2010/main" val="2045841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9</a:t>
            </a:fld>
            <a:endParaRPr lang="en-US"/>
          </a:p>
        </p:txBody>
      </p:sp>
    </p:spTree>
    <p:extLst>
      <p:ext uri="{BB962C8B-B14F-4D97-AF65-F5344CB8AC3E}">
        <p14:creationId xmlns:p14="http://schemas.microsoft.com/office/powerpoint/2010/main" val="1743989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10</a:t>
            </a:fld>
            <a:endParaRPr lang="en-US"/>
          </a:p>
        </p:txBody>
      </p:sp>
    </p:spTree>
    <p:extLst>
      <p:ext uri="{BB962C8B-B14F-4D97-AF65-F5344CB8AC3E}">
        <p14:creationId xmlns:p14="http://schemas.microsoft.com/office/powerpoint/2010/main" val="4266643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11</a:t>
            </a:fld>
            <a:endParaRPr lang="en-US"/>
          </a:p>
        </p:txBody>
      </p:sp>
    </p:spTree>
    <p:extLst>
      <p:ext uri="{BB962C8B-B14F-4D97-AF65-F5344CB8AC3E}">
        <p14:creationId xmlns:p14="http://schemas.microsoft.com/office/powerpoint/2010/main" val="3607233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12</a:t>
            </a:fld>
            <a:endParaRPr lang="en-US"/>
          </a:p>
        </p:txBody>
      </p:sp>
    </p:spTree>
    <p:extLst>
      <p:ext uri="{BB962C8B-B14F-4D97-AF65-F5344CB8AC3E}">
        <p14:creationId xmlns:p14="http://schemas.microsoft.com/office/powerpoint/2010/main" val="2839537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13</a:t>
            </a:fld>
            <a:endParaRPr lang="en-US"/>
          </a:p>
        </p:txBody>
      </p:sp>
    </p:spTree>
    <p:extLst>
      <p:ext uri="{BB962C8B-B14F-4D97-AF65-F5344CB8AC3E}">
        <p14:creationId xmlns:p14="http://schemas.microsoft.com/office/powerpoint/2010/main" val="3869109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14</a:t>
            </a:fld>
            <a:endParaRPr lang="en-US"/>
          </a:p>
        </p:txBody>
      </p:sp>
    </p:spTree>
    <p:extLst>
      <p:ext uri="{BB962C8B-B14F-4D97-AF65-F5344CB8AC3E}">
        <p14:creationId xmlns:p14="http://schemas.microsoft.com/office/powerpoint/2010/main" val="223296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16</a:t>
            </a:fld>
            <a:endParaRPr lang="en-US"/>
          </a:p>
        </p:txBody>
      </p:sp>
    </p:spTree>
    <p:extLst>
      <p:ext uri="{BB962C8B-B14F-4D97-AF65-F5344CB8AC3E}">
        <p14:creationId xmlns:p14="http://schemas.microsoft.com/office/powerpoint/2010/main" val="1377957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17</a:t>
            </a:fld>
            <a:endParaRPr lang="en-US"/>
          </a:p>
        </p:txBody>
      </p:sp>
    </p:spTree>
    <p:extLst>
      <p:ext uri="{BB962C8B-B14F-4D97-AF65-F5344CB8AC3E}">
        <p14:creationId xmlns:p14="http://schemas.microsoft.com/office/powerpoint/2010/main" val="88574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18</a:t>
            </a:fld>
            <a:endParaRPr lang="en-US"/>
          </a:p>
        </p:txBody>
      </p:sp>
    </p:spTree>
    <p:extLst>
      <p:ext uri="{BB962C8B-B14F-4D97-AF65-F5344CB8AC3E}">
        <p14:creationId xmlns:p14="http://schemas.microsoft.com/office/powerpoint/2010/main" val="3176450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19</a:t>
            </a:fld>
            <a:endParaRPr lang="en-US"/>
          </a:p>
        </p:txBody>
      </p:sp>
    </p:spTree>
    <p:extLst>
      <p:ext uri="{BB962C8B-B14F-4D97-AF65-F5344CB8AC3E}">
        <p14:creationId xmlns:p14="http://schemas.microsoft.com/office/powerpoint/2010/main" val="23363414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20</a:t>
            </a:fld>
            <a:endParaRPr lang="en-US"/>
          </a:p>
        </p:txBody>
      </p:sp>
    </p:spTree>
    <p:extLst>
      <p:ext uri="{BB962C8B-B14F-4D97-AF65-F5344CB8AC3E}">
        <p14:creationId xmlns:p14="http://schemas.microsoft.com/office/powerpoint/2010/main" val="18558596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21</a:t>
            </a:fld>
            <a:endParaRPr lang="en-US"/>
          </a:p>
        </p:txBody>
      </p:sp>
    </p:spTree>
    <p:extLst>
      <p:ext uri="{BB962C8B-B14F-4D97-AF65-F5344CB8AC3E}">
        <p14:creationId xmlns:p14="http://schemas.microsoft.com/office/powerpoint/2010/main" val="4264084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22</a:t>
            </a:fld>
            <a:endParaRPr lang="en-US"/>
          </a:p>
        </p:txBody>
      </p:sp>
    </p:spTree>
    <p:extLst>
      <p:ext uri="{BB962C8B-B14F-4D97-AF65-F5344CB8AC3E}">
        <p14:creationId xmlns:p14="http://schemas.microsoft.com/office/powerpoint/2010/main" val="1509203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23</a:t>
            </a:fld>
            <a:endParaRPr lang="en-US"/>
          </a:p>
        </p:txBody>
      </p:sp>
    </p:spTree>
    <p:extLst>
      <p:ext uri="{BB962C8B-B14F-4D97-AF65-F5344CB8AC3E}">
        <p14:creationId xmlns:p14="http://schemas.microsoft.com/office/powerpoint/2010/main" val="4005860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24</a:t>
            </a:fld>
            <a:endParaRPr lang="en-US"/>
          </a:p>
        </p:txBody>
      </p:sp>
    </p:spTree>
    <p:extLst>
      <p:ext uri="{BB962C8B-B14F-4D97-AF65-F5344CB8AC3E}">
        <p14:creationId xmlns:p14="http://schemas.microsoft.com/office/powerpoint/2010/main" val="2984694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25</a:t>
            </a:fld>
            <a:endParaRPr lang="en-US"/>
          </a:p>
        </p:txBody>
      </p:sp>
    </p:spTree>
    <p:extLst>
      <p:ext uri="{BB962C8B-B14F-4D97-AF65-F5344CB8AC3E}">
        <p14:creationId xmlns:p14="http://schemas.microsoft.com/office/powerpoint/2010/main" val="38669549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26</a:t>
            </a:fld>
            <a:endParaRPr lang="en-US"/>
          </a:p>
        </p:txBody>
      </p:sp>
    </p:spTree>
    <p:extLst>
      <p:ext uri="{BB962C8B-B14F-4D97-AF65-F5344CB8AC3E}">
        <p14:creationId xmlns:p14="http://schemas.microsoft.com/office/powerpoint/2010/main" val="1917930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27</a:t>
            </a:fld>
            <a:endParaRPr lang="en-US"/>
          </a:p>
        </p:txBody>
      </p:sp>
    </p:spTree>
    <p:extLst>
      <p:ext uri="{BB962C8B-B14F-4D97-AF65-F5344CB8AC3E}">
        <p14:creationId xmlns:p14="http://schemas.microsoft.com/office/powerpoint/2010/main" val="726912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28</a:t>
            </a:fld>
            <a:endParaRPr lang="en-US"/>
          </a:p>
        </p:txBody>
      </p:sp>
    </p:spTree>
    <p:extLst>
      <p:ext uri="{BB962C8B-B14F-4D97-AF65-F5344CB8AC3E}">
        <p14:creationId xmlns:p14="http://schemas.microsoft.com/office/powerpoint/2010/main" val="1818494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29</a:t>
            </a:fld>
            <a:endParaRPr lang="en-US"/>
          </a:p>
        </p:txBody>
      </p:sp>
    </p:spTree>
    <p:extLst>
      <p:ext uri="{BB962C8B-B14F-4D97-AF65-F5344CB8AC3E}">
        <p14:creationId xmlns:p14="http://schemas.microsoft.com/office/powerpoint/2010/main" val="26517282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30</a:t>
            </a:fld>
            <a:endParaRPr lang="en-US"/>
          </a:p>
        </p:txBody>
      </p:sp>
    </p:spTree>
    <p:extLst>
      <p:ext uri="{BB962C8B-B14F-4D97-AF65-F5344CB8AC3E}">
        <p14:creationId xmlns:p14="http://schemas.microsoft.com/office/powerpoint/2010/main" val="3068682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31</a:t>
            </a:fld>
            <a:endParaRPr lang="en-US"/>
          </a:p>
        </p:txBody>
      </p:sp>
    </p:spTree>
    <p:extLst>
      <p:ext uri="{BB962C8B-B14F-4D97-AF65-F5344CB8AC3E}">
        <p14:creationId xmlns:p14="http://schemas.microsoft.com/office/powerpoint/2010/main" val="12129733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32</a:t>
            </a:fld>
            <a:endParaRPr lang="en-US"/>
          </a:p>
        </p:txBody>
      </p:sp>
    </p:spTree>
    <p:extLst>
      <p:ext uri="{BB962C8B-B14F-4D97-AF65-F5344CB8AC3E}">
        <p14:creationId xmlns:p14="http://schemas.microsoft.com/office/powerpoint/2010/main" val="1284126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33</a:t>
            </a:fld>
            <a:endParaRPr lang="en-US"/>
          </a:p>
        </p:txBody>
      </p:sp>
    </p:spTree>
    <p:extLst>
      <p:ext uri="{BB962C8B-B14F-4D97-AF65-F5344CB8AC3E}">
        <p14:creationId xmlns:p14="http://schemas.microsoft.com/office/powerpoint/2010/main" val="3730222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34</a:t>
            </a:fld>
            <a:endParaRPr lang="en-US"/>
          </a:p>
        </p:txBody>
      </p:sp>
    </p:spTree>
    <p:extLst>
      <p:ext uri="{BB962C8B-B14F-4D97-AF65-F5344CB8AC3E}">
        <p14:creationId xmlns:p14="http://schemas.microsoft.com/office/powerpoint/2010/main" val="3675641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35</a:t>
            </a:fld>
            <a:endParaRPr lang="en-US"/>
          </a:p>
        </p:txBody>
      </p:sp>
    </p:spTree>
    <p:extLst>
      <p:ext uri="{BB962C8B-B14F-4D97-AF65-F5344CB8AC3E}">
        <p14:creationId xmlns:p14="http://schemas.microsoft.com/office/powerpoint/2010/main" val="39460222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36</a:t>
            </a:fld>
            <a:endParaRPr lang="en-US"/>
          </a:p>
        </p:txBody>
      </p:sp>
    </p:spTree>
    <p:extLst>
      <p:ext uri="{BB962C8B-B14F-4D97-AF65-F5344CB8AC3E}">
        <p14:creationId xmlns:p14="http://schemas.microsoft.com/office/powerpoint/2010/main" val="11269315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37</a:t>
            </a:fld>
            <a:endParaRPr lang="en-US"/>
          </a:p>
        </p:txBody>
      </p:sp>
    </p:spTree>
    <p:extLst>
      <p:ext uri="{BB962C8B-B14F-4D97-AF65-F5344CB8AC3E}">
        <p14:creationId xmlns:p14="http://schemas.microsoft.com/office/powerpoint/2010/main" val="601825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38</a:t>
            </a:fld>
            <a:endParaRPr lang="en-US"/>
          </a:p>
        </p:txBody>
      </p:sp>
    </p:spTree>
    <p:extLst>
      <p:ext uri="{BB962C8B-B14F-4D97-AF65-F5344CB8AC3E}">
        <p14:creationId xmlns:p14="http://schemas.microsoft.com/office/powerpoint/2010/main" val="5987049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39</a:t>
            </a:fld>
            <a:endParaRPr lang="en-US"/>
          </a:p>
        </p:txBody>
      </p:sp>
    </p:spTree>
    <p:extLst>
      <p:ext uri="{BB962C8B-B14F-4D97-AF65-F5344CB8AC3E}">
        <p14:creationId xmlns:p14="http://schemas.microsoft.com/office/powerpoint/2010/main" val="28144755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40</a:t>
            </a:fld>
            <a:endParaRPr lang="en-US"/>
          </a:p>
        </p:txBody>
      </p:sp>
    </p:spTree>
    <p:extLst>
      <p:ext uri="{BB962C8B-B14F-4D97-AF65-F5344CB8AC3E}">
        <p14:creationId xmlns:p14="http://schemas.microsoft.com/office/powerpoint/2010/main" val="179928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41</a:t>
            </a:fld>
            <a:endParaRPr lang="en-US"/>
          </a:p>
        </p:txBody>
      </p:sp>
    </p:spTree>
    <p:extLst>
      <p:ext uri="{BB962C8B-B14F-4D97-AF65-F5344CB8AC3E}">
        <p14:creationId xmlns:p14="http://schemas.microsoft.com/office/powerpoint/2010/main" val="14080473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42</a:t>
            </a:fld>
            <a:endParaRPr lang="en-US"/>
          </a:p>
        </p:txBody>
      </p:sp>
    </p:spTree>
    <p:extLst>
      <p:ext uri="{BB962C8B-B14F-4D97-AF65-F5344CB8AC3E}">
        <p14:creationId xmlns:p14="http://schemas.microsoft.com/office/powerpoint/2010/main" val="8679007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43</a:t>
            </a:fld>
            <a:endParaRPr lang="en-US"/>
          </a:p>
        </p:txBody>
      </p:sp>
    </p:spTree>
    <p:extLst>
      <p:ext uri="{BB962C8B-B14F-4D97-AF65-F5344CB8AC3E}">
        <p14:creationId xmlns:p14="http://schemas.microsoft.com/office/powerpoint/2010/main" val="42911008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44</a:t>
            </a:fld>
            <a:endParaRPr lang="en-US"/>
          </a:p>
        </p:txBody>
      </p:sp>
    </p:spTree>
    <p:extLst>
      <p:ext uri="{BB962C8B-B14F-4D97-AF65-F5344CB8AC3E}">
        <p14:creationId xmlns:p14="http://schemas.microsoft.com/office/powerpoint/2010/main" val="1463254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45</a:t>
            </a:fld>
            <a:endParaRPr lang="en-US"/>
          </a:p>
        </p:txBody>
      </p:sp>
    </p:spTree>
    <p:extLst>
      <p:ext uri="{BB962C8B-B14F-4D97-AF65-F5344CB8AC3E}">
        <p14:creationId xmlns:p14="http://schemas.microsoft.com/office/powerpoint/2010/main" val="39365548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AD699A-58F6-4937-AB83-93359683FFEE}" type="slidenum">
              <a:rPr lang="en-US" smtClean="0"/>
              <a:t>46</a:t>
            </a:fld>
            <a:endParaRPr lang="en-US"/>
          </a:p>
        </p:txBody>
      </p:sp>
    </p:spTree>
    <p:extLst>
      <p:ext uri="{BB962C8B-B14F-4D97-AF65-F5344CB8AC3E}">
        <p14:creationId xmlns:p14="http://schemas.microsoft.com/office/powerpoint/2010/main" val="2603717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9F2638-8998-4268-9317-510A5F72DAA8}" type="datetimeFigureOut">
              <a:rPr lang="en-US" smtClean="0"/>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2502121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9F2638-8998-4268-9317-510A5F72DAA8}" type="datetimeFigureOut">
              <a:rPr lang="en-US" smtClean="0"/>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970157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109F2638-8998-4268-9317-510A5F72DAA8}" type="datetimeFigureOut">
              <a:rPr lang="en-US" smtClean="0"/>
              <a:t>7/11/2022</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C5D99D3-206B-4BAF-A4CD-3FEB7B834DEA}" type="slidenum">
              <a:rPr lang="en-US" smtClean="0"/>
              <a:t>‹#›</a:t>
            </a:fld>
            <a:endParaRPr lang="en-US"/>
          </a:p>
        </p:txBody>
      </p:sp>
    </p:spTree>
    <p:extLst>
      <p:ext uri="{BB962C8B-B14F-4D97-AF65-F5344CB8AC3E}">
        <p14:creationId xmlns:p14="http://schemas.microsoft.com/office/powerpoint/2010/main" val="8826117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9F2638-8998-4268-9317-510A5F72DAA8}" type="datetimeFigureOut">
              <a:rPr lang="en-US" smtClean="0"/>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1237642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9F2638-8998-4268-9317-510A5F72DAA8}" type="datetimeFigureOut">
              <a:rPr lang="en-US" smtClean="0"/>
              <a:t>7/11/2022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254913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9F2638-8998-4268-9317-510A5F72DAA8}" type="datetimeFigureOut">
              <a:rPr lang="en-US" smtClean="0"/>
              <a:t>7/11/2022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3675199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9F2638-8998-4268-9317-510A5F72DAA8}" type="datetimeFigureOut">
              <a:rPr lang="en-US" smtClean="0"/>
              <a:t>7/11/2022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309338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9F2638-8998-4268-9317-510A5F72DAA8}" type="datetimeFigureOut">
              <a:rPr lang="en-US" smtClean="0"/>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302379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9F2638-8998-4268-9317-510A5F72DAA8}" type="datetimeFigureOut">
              <a:rPr lang="en-US" smtClean="0"/>
              <a:t>7/11/2022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1918173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9F2638-8998-4268-9317-510A5F72DAA8}" type="datetimeFigureOut">
              <a:rPr lang="en-US" smtClean="0"/>
              <a:t>7/11/2022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807974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109F2638-8998-4268-9317-510A5F72DAA8}" type="datetimeFigureOut">
              <a:rPr lang="en-US" smtClean="0"/>
              <a:t>7/11/2022</a:t>
            </a:fld>
            <a:endParaRPr lang="en-US"/>
          </a:p>
        </p:txBody>
      </p:sp>
      <p:sp>
        <p:nvSpPr>
          <p:cNvPr id="5" name="Footer Placeholder 4"/>
          <p:cNvSpPr>
            <a:spLocks noGrp="1"/>
          </p:cNvSpPr>
          <p:nvPr>
            <p:ph type="ftr" sz="quarter" idx="11"/>
          </p:nvPr>
        </p:nvSpPr>
        <p:spPr>
          <a:xfrm>
            <a:off x="3776135" y="6422854"/>
            <a:ext cx="4279669" cy="365125"/>
          </a:xfrm>
        </p:spPr>
        <p:txBody>
          <a:bodyPr/>
          <a:lstStyle/>
          <a:p>
            <a:endParaRPr lang="en-US"/>
          </a:p>
        </p:txBody>
      </p:sp>
      <p:sp>
        <p:nvSpPr>
          <p:cNvPr id="6" name="Slide Number Placeholder 5"/>
          <p:cNvSpPr>
            <a:spLocks noGrp="1"/>
          </p:cNvSpPr>
          <p:nvPr>
            <p:ph type="sldNum" sz="quarter" idx="12"/>
          </p:nvPr>
        </p:nvSpPr>
        <p:spPr>
          <a:xfrm>
            <a:off x="8073048" y="6422854"/>
            <a:ext cx="879759" cy="365125"/>
          </a:xfrm>
        </p:spPr>
        <p:txBody>
          <a:bodyPr/>
          <a:lstStyle/>
          <a:p>
            <a:fld id="{CC5D99D3-206B-4BAF-A4CD-3FEB7B834DEA}" type="slidenum">
              <a:rPr lang="en-US" smtClean="0"/>
              <a:t>‹#›</a:t>
            </a:fld>
            <a:endParaRPr lang="en-US"/>
          </a:p>
        </p:txBody>
      </p:sp>
    </p:spTree>
    <p:extLst>
      <p:ext uri="{BB962C8B-B14F-4D97-AF65-F5344CB8AC3E}">
        <p14:creationId xmlns:p14="http://schemas.microsoft.com/office/powerpoint/2010/main" val="1876351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109F2638-8998-4268-9317-510A5F72DAA8}" type="datetimeFigureOut">
              <a:rPr lang="en-US" smtClean="0"/>
              <a:t>7/11/2022</a:t>
            </a:fld>
            <a:endParaRPr lang="en-US"/>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US"/>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CC5D99D3-206B-4BAF-A4CD-3FEB7B834DEA}" type="slidenum">
              <a:rPr lang="en-US" smtClean="0"/>
              <a:t>‹#›</a:t>
            </a:fld>
            <a:endParaRPr lang="en-US"/>
          </a:p>
        </p:txBody>
      </p:sp>
    </p:spTree>
    <p:extLst>
      <p:ext uri="{BB962C8B-B14F-4D97-AF65-F5344CB8AC3E}">
        <p14:creationId xmlns:p14="http://schemas.microsoft.com/office/powerpoint/2010/main" val="3558059195"/>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customXml" Target="../ink/ink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7.png"/><Relationship Id="rId4" Type="http://schemas.openxmlformats.org/officeDocument/2006/relationships/customXml" Target="../ink/ink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80.png"/><Relationship Id="rId4" Type="http://schemas.openxmlformats.org/officeDocument/2006/relationships/customXml" Target="../ink/ink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customXml" Target="../ink/ink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ustomXml" Target="../ink/ink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80.png"/><Relationship Id="rId4" Type="http://schemas.openxmlformats.org/officeDocument/2006/relationships/customXml" Target="../ink/ink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80.png"/><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30.png"/><Relationship Id="rId4" Type="http://schemas.openxmlformats.org/officeDocument/2006/relationships/customXml" Target="../ink/ink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0.png"/><Relationship Id="rId4" Type="http://schemas.openxmlformats.org/officeDocument/2006/relationships/customXml" Target="../ink/ink9.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37.png"/><Relationship Id="rId4" Type="http://schemas.openxmlformats.org/officeDocument/2006/relationships/customXml" Target="../ink/ink10.xml"/></Relationships>
</file>

<file path=ppt/slides/_rels/slide15.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80.png"/><Relationship Id="rId4" Type="http://schemas.openxmlformats.org/officeDocument/2006/relationships/customXml" Target="../ink/ink1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80.png"/><Relationship Id="rId4" Type="http://schemas.openxmlformats.org/officeDocument/2006/relationships/customXml" Target="../ink/ink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80.png"/><Relationship Id="rId4" Type="http://schemas.openxmlformats.org/officeDocument/2006/relationships/customXml" Target="../ink/ink1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customXml" Target="../ink/ink1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37.png"/><Relationship Id="rId4" Type="http://schemas.openxmlformats.org/officeDocument/2006/relationships/customXml" Target="../ink/ink1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37.png"/><Relationship Id="rId4" Type="http://schemas.openxmlformats.org/officeDocument/2006/relationships/customXml" Target="../ink/ink16.xml"/></Relationships>
</file>

<file path=ppt/slides/_rels/slide22.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8.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jpg"/><Relationship Id="rId5" Type="http://schemas.openxmlformats.org/officeDocument/2006/relationships/image" Target="../media/image80.png"/><Relationship Id="rId4" Type="http://schemas.openxmlformats.org/officeDocument/2006/relationships/customXml" Target="../ink/ink1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37.png"/><Relationship Id="rId4" Type="http://schemas.openxmlformats.org/officeDocument/2006/relationships/customXml" Target="../ink/ink18.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80.png"/><Relationship Id="rId4" Type="http://schemas.openxmlformats.org/officeDocument/2006/relationships/customXml" Target="../ink/ink19.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80.png"/><Relationship Id="rId4" Type="http://schemas.openxmlformats.org/officeDocument/2006/relationships/customXml" Target="../ink/ink20.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80.png"/><Relationship Id="rId4" Type="http://schemas.openxmlformats.org/officeDocument/2006/relationships/customXml" Target="../ink/ink2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130.png"/><Relationship Id="rId4" Type="http://schemas.openxmlformats.org/officeDocument/2006/relationships/customXml" Target="../ink/ink2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40.png"/><Relationship Id="rId4" Type="http://schemas.openxmlformats.org/officeDocument/2006/relationships/customXml" Target="../ink/ink2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40.png"/><Relationship Id="rId4" Type="http://schemas.openxmlformats.org/officeDocument/2006/relationships/customXml" Target="../ink/ink24.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7.png"/><Relationship Id="rId4" Type="http://schemas.openxmlformats.org/officeDocument/2006/relationships/customXml" Target="../ink/ink25.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7.png"/><Relationship Id="rId4" Type="http://schemas.openxmlformats.org/officeDocument/2006/relationships/customXml" Target="../ink/ink26.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7.png"/><Relationship Id="rId4" Type="http://schemas.openxmlformats.org/officeDocument/2006/relationships/customXml" Target="../ink/ink27.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7.png"/><Relationship Id="rId4" Type="http://schemas.openxmlformats.org/officeDocument/2006/relationships/customXml" Target="../ink/ink28.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7.png"/><Relationship Id="rId4" Type="http://schemas.openxmlformats.org/officeDocument/2006/relationships/customXml" Target="../ink/ink29.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customXml" Target="../ink/ink30.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customXml" Target="../ink/ink31.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customXml" Target="../ink/ink3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37.png"/><Relationship Id="rId4" Type="http://schemas.openxmlformats.org/officeDocument/2006/relationships/customXml" Target="../ink/ink33.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7.png"/><Relationship Id="rId4" Type="http://schemas.openxmlformats.org/officeDocument/2006/relationships/customXml" Target="../ink/ink34.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7.png"/><Relationship Id="rId4" Type="http://schemas.openxmlformats.org/officeDocument/2006/relationships/customXml" Target="../ink/ink35.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37.png"/><Relationship Id="rId4" Type="http://schemas.openxmlformats.org/officeDocument/2006/relationships/customXml" Target="../ink/ink36.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37.png"/><Relationship Id="rId4" Type="http://schemas.openxmlformats.org/officeDocument/2006/relationships/customXml" Target="../ink/ink37.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37.png"/><Relationship Id="rId4" Type="http://schemas.openxmlformats.org/officeDocument/2006/relationships/customXml" Target="../ink/ink38.xml"/></Relationships>
</file>

<file path=ppt/slides/_rels/slide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37.png"/><Relationship Id="rId4" Type="http://schemas.openxmlformats.org/officeDocument/2006/relationships/customXml" Target="../ink/ink39.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7.png"/><Relationship Id="rId4" Type="http://schemas.openxmlformats.org/officeDocument/2006/relationships/customXml" Target="../ink/ink40.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ustomXml" Target="../ink/ink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82E7A1-12D1-9E2A-0D4F-FA9B08C99418}"/>
              </a:ext>
            </a:extLst>
          </p:cNvPr>
          <p:cNvSpPr>
            <a:spLocks noGrp="1"/>
          </p:cNvSpPr>
          <p:nvPr>
            <p:ph type="subTitle" idx="1"/>
          </p:nvPr>
        </p:nvSpPr>
        <p:spPr>
          <a:xfrm>
            <a:off x="1534885" y="4517571"/>
            <a:ext cx="9144000" cy="1655762"/>
          </a:xfrm>
        </p:spPr>
        <p:txBody>
          <a:bodyPr>
            <a:normAutofit lnSpcReduction="10000"/>
          </a:bodyPr>
          <a:lstStyle/>
          <a:p>
            <a:r>
              <a:rPr lang="en-US" sz="5400" b="1" dirty="0">
                <a:latin typeface="Bodoni MT" panose="02070603080606020203" pitchFamily="18" charset="0"/>
              </a:rPr>
              <a:t>Software</a:t>
            </a:r>
          </a:p>
          <a:p>
            <a:r>
              <a:rPr lang="en-US" sz="5400" b="1" dirty="0">
                <a:latin typeface="Bodoni MT" panose="02070603080606020203" pitchFamily="18" charset="0"/>
              </a:rPr>
              <a:t>The  main idea  </a:t>
            </a:r>
          </a:p>
        </p:txBody>
      </p:sp>
      <p:pic>
        <p:nvPicPr>
          <p:cNvPr id="5" name="Picture 4">
            <a:extLst>
              <a:ext uri="{FF2B5EF4-FFF2-40B4-BE49-F238E27FC236}">
                <a16:creationId xmlns:a16="http://schemas.microsoft.com/office/drawing/2014/main" id="{E629F87F-B214-D380-CE38-5ED5E6DE02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5457" y="2070261"/>
            <a:ext cx="5442857" cy="1800643"/>
          </a:xfrm>
          <a:prstGeom prst="rect">
            <a:avLst/>
          </a:prstGeom>
        </p:spPr>
      </p:pic>
    </p:spTree>
    <p:extLst>
      <p:ext uri="{BB962C8B-B14F-4D97-AF65-F5344CB8AC3E}">
        <p14:creationId xmlns:p14="http://schemas.microsoft.com/office/powerpoint/2010/main" val="2347128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EE03-681E-8A46-4C8D-B25AD3AFA1AF}"/>
              </a:ext>
            </a:extLst>
          </p:cNvPr>
          <p:cNvSpPr>
            <a:spLocks noGrp="1"/>
          </p:cNvSpPr>
          <p:nvPr>
            <p:ph type="title"/>
          </p:nvPr>
        </p:nvSpPr>
        <p:spPr>
          <a:xfrm>
            <a:off x="1324092" y="284177"/>
            <a:ext cx="9784080" cy="1508760"/>
          </a:xfrm>
        </p:spPr>
        <p:txBody>
          <a:bodyPr>
            <a:normAutofit/>
          </a:bodyPr>
          <a:lstStyle/>
          <a:p>
            <a:pPr algn="ctr"/>
            <a:r>
              <a:rPr lang="en-US" sz="5400" b="1" dirty="0">
                <a:latin typeface="Bahnschrift Condensed" panose="020B0502040204020203" pitchFamily="34" charset="0"/>
              </a:rPr>
              <a:t>Admin panel view</a:t>
            </a:r>
            <a:br>
              <a:rPr lang="en-US" sz="5400" b="1" dirty="0">
                <a:latin typeface="Bahnschrift Condensed" panose="020B0502040204020203" pitchFamily="34" charset="0"/>
              </a:rPr>
            </a:br>
            <a:r>
              <a:rPr lang="en-US" sz="2800" b="1" cap="none" dirty="0">
                <a:latin typeface="Bahnschrift Condensed" panose="020B0502040204020203" pitchFamily="34" charset="0"/>
              </a:rPr>
              <a:t>(View Of The Dashboard)</a:t>
            </a:r>
            <a:endParaRPr lang="en-US" sz="5400" b="1" dirty="0">
              <a:latin typeface="Bahnschrift Condensed" panose="020B0502040204020203" pitchFamily="34" charset="0"/>
            </a:endParaRPr>
          </a:p>
        </p:txBody>
      </p:sp>
      <p:pic>
        <p:nvPicPr>
          <p:cNvPr id="9" name="Picture 8">
            <a:extLst>
              <a:ext uri="{FF2B5EF4-FFF2-40B4-BE49-F238E27FC236}">
                <a16:creationId xmlns:a16="http://schemas.microsoft.com/office/drawing/2014/main" id="{0958889F-2E49-E92D-7360-B30888791AA8}"/>
              </a:ext>
            </a:extLst>
          </p:cNvPr>
          <p:cNvPicPr>
            <a:picLocks noChangeAspect="1"/>
          </p:cNvPicPr>
          <p:nvPr/>
        </p:nvPicPr>
        <p:blipFill rotWithShape="1">
          <a:blip r:embed="rId2"/>
          <a:srcRect t="11756" r="1371" b="5663"/>
          <a:stretch/>
        </p:blipFill>
        <p:spPr>
          <a:xfrm>
            <a:off x="0" y="1832266"/>
            <a:ext cx="12192000" cy="5065063"/>
          </a:xfrm>
          <a:prstGeom prst="rect">
            <a:avLst/>
          </a:prstGeom>
        </p:spPr>
      </p:pic>
    </p:spTree>
    <p:extLst>
      <p:ext uri="{BB962C8B-B14F-4D97-AF65-F5344CB8AC3E}">
        <p14:creationId xmlns:p14="http://schemas.microsoft.com/office/powerpoint/2010/main" val="1428830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86E2-3D36-D4AB-B343-8886EF5402B4}"/>
              </a:ext>
            </a:extLst>
          </p:cNvPr>
          <p:cNvSpPr>
            <a:spLocks noGrp="1"/>
          </p:cNvSpPr>
          <p:nvPr>
            <p:ph type="title"/>
          </p:nvPr>
        </p:nvSpPr>
        <p:spPr>
          <a:xfrm>
            <a:off x="2707640" y="195639"/>
            <a:ext cx="9784080" cy="1508760"/>
          </a:xfrm>
        </p:spPr>
        <p:txBody>
          <a:bodyPr>
            <a:normAutofit/>
          </a:bodyPr>
          <a:lstStyle/>
          <a:p>
            <a:pPr algn="ctr"/>
            <a:r>
              <a:rPr lang="en-US" sz="5400" dirty="0">
                <a:latin typeface="Bahnschrift Condensed" panose="020B0502040204020203" pitchFamily="34" charset="0"/>
              </a:rPr>
              <a:t>Profile </a:t>
            </a:r>
          </a:p>
        </p:txBody>
      </p:sp>
      <p:pic>
        <p:nvPicPr>
          <p:cNvPr id="19" name="Picture 18">
            <a:extLst>
              <a:ext uri="{FF2B5EF4-FFF2-40B4-BE49-F238E27FC236}">
                <a16:creationId xmlns:a16="http://schemas.microsoft.com/office/drawing/2014/main" id="{8A91B55A-5949-7978-8189-49C7B2A036BA}"/>
              </a:ext>
            </a:extLst>
          </p:cNvPr>
          <p:cNvPicPr>
            <a:picLocks noChangeAspect="1"/>
          </p:cNvPicPr>
          <p:nvPr/>
        </p:nvPicPr>
        <p:blipFill>
          <a:blip r:embed="rId2"/>
          <a:stretch>
            <a:fillRect/>
          </a:stretch>
        </p:blipFill>
        <p:spPr>
          <a:xfrm>
            <a:off x="-66282" y="182301"/>
            <a:ext cx="3073642" cy="6675699"/>
          </a:xfrm>
          <a:prstGeom prst="rect">
            <a:avLst/>
          </a:prstGeom>
        </p:spPr>
      </p:pic>
      <p:sp>
        <p:nvSpPr>
          <p:cNvPr id="20" name="Arrow: Right 19">
            <a:extLst>
              <a:ext uri="{FF2B5EF4-FFF2-40B4-BE49-F238E27FC236}">
                <a16:creationId xmlns:a16="http://schemas.microsoft.com/office/drawing/2014/main" id="{C416E6D3-9274-E28A-2EE8-DA6B386AEEC8}"/>
              </a:ext>
            </a:extLst>
          </p:cNvPr>
          <p:cNvSpPr/>
          <p:nvPr/>
        </p:nvSpPr>
        <p:spPr>
          <a:xfrm>
            <a:off x="2128831" y="2454849"/>
            <a:ext cx="800981" cy="2821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4C84320-E84D-012C-BF19-C75A58159F2C}"/>
              </a:ext>
            </a:extLst>
          </p:cNvPr>
          <p:cNvSpPr/>
          <p:nvPr/>
        </p:nvSpPr>
        <p:spPr>
          <a:xfrm>
            <a:off x="149290" y="3872204"/>
            <a:ext cx="2780522" cy="46166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AA20FAA-ED6C-CBFD-6160-26076D4A17F0}"/>
              </a:ext>
            </a:extLst>
          </p:cNvPr>
          <p:cNvSpPr/>
          <p:nvPr/>
        </p:nvSpPr>
        <p:spPr>
          <a:xfrm>
            <a:off x="1014096" y="3116424"/>
            <a:ext cx="833365" cy="52322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03257993-59D4-C203-C7CF-3338C897B17E}"/>
              </a:ext>
            </a:extLst>
          </p:cNvPr>
          <p:cNvSpPr/>
          <p:nvPr/>
        </p:nvSpPr>
        <p:spPr>
          <a:xfrm>
            <a:off x="690465" y="2295331"/>
            <a:ext cx="1583082" cy="51629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Settings</a:t>
            </a:r>
          </a:p>
          <a:p>
            <a:pPr algn="ctr"/>
            <a:r>
              <a:rPr lang="en-US" b="1" dirty="0">
                <a:solidFill>
                  <a:srgbClr val="FF0000"/>
                </a:solidFill>
              </a:rPr>
              <a:t>(Profile)</a:t>
            </a:r>
            <a:endParaRPr lang="en-US" sz="1200" b="1" dirty="0">
              <a:solidFill>
                <a:srgbClr val="FF0000"/>
              </a:solidFill>
            </a:endParaRPr>
          </a:p>
        </p:txBody>
      </p:sp>
      <p:pic>
        <p:nvPicPr>
          <p:cNvPr id="5" name="Picture 4">
            <a:extLst>
              <a:ext uri="{FF2B5EF4-FFF2-40B4-BE49-F238E27FC236}">
                <a16:creationId xmlns:a16="http://schemas.microsoft.com/office/drawing/2014/main" id="{471E753C-41C1-D932-E774-C9D2CF8816CD}"/>
              </a:ext>
            </a:extLst>
          </p:cNvPr>
          <p:cNvPicPr>
            <a:picLocks noChangeAspect="1"/>
          </p:cNvPicPr>
          <p:nvPr/>
        </p:nvPicPr>
        <p:blipFill rotWithShape="1">
          <a:blip r:embed="rId3"/>
          <a:srcRect l="16693" t="19212" r="3057" b="8531"/>
          <a:stretch/>
        </p:blipFill>
        <p:spPr>
          <a:xfrm>
            <a:off x="3007360" y="1717737"/>
            <a:ext cx="9184640" cy="5153601"/>
          </a:xfrm>
          <a:prstGeom prst="rect">
            <a:avLst/>
          </a:prstGeom>
        </p:spPr>
      </p:pic>
    </p:spTree>
    <p:extLst>
      <p:ext uri="{BB962C8B-B14F-4D97-AF65-F5344CB8AC3E}">
        <p14:creationId xmlns:p14="http://schemas.microsoft.com/office/powerpoint/2010/main" val="1391557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086E2-3D36-D4AB-B343-8886EF5402B4}"/>
              </a:ext>
            </a:extLst>
          </p:cNvPr>
          <p:cNvSpPr>
            <a:spLocks noGrp="1"/>
          </p:cNvSpPr>
          <p:nvPr>
            <p:ph type="title"/>
          </p:nvPr>
        </p:nvSpPr>
        <p:spPr>
          <a:xfrm>
            <a:off x="2707640" y="195639"/>
            <a:ext cx="9784080" cy="1508760"/>
          </a:xfrm>
        </p:spPr>
        <p:txBody>
          <a:bodyPr>
            <a:normAutofit/>
          </a:bodyPr>
          <a:lstStyle/>
          <a:p>
            <a:pPr algn="ctr"/>
            <a:r>
              <a:rPr lang="en-US" sz="5400" dirty="0">
                <a:latin typeface="Bahnschrift Condensed" panose="020B0502040204020203" pitchFamily="34" charset="0"/>
              </a:rPr>
              <a:t>Profile edit form</a:t>
            </a:r>
          </a:p>
        </p:txBody>
      </p:sp>
      <p:pic>
        <p:nvPicPr>
          <p:cNvPr id="19" name="Picture 18">
            <a:extLst>
              <a:ext uri="{FF2B5EF4-FFF2-40B4-BE49-F238E27FC236}">
                <a16:creationId xmlns:a16="http://schemas.microsoft.com/office/drawing/2014/main" id="{8A91B55A-5949-7978-8189-49C7B2A036BA}"/>
              </a:ext>
            </a:extLst>
          </p:cNvPr>
          <p:cNvPicPr>
            <a:picLocks noChangeAspect="1"/>
          </p:cNvPicPr>
          <p:nvPr/>
        </p:nvPicPr>
        <p:blipFill>
          <a:blip r:embed="rId2"/>
          <a:stretch>
            <a:fillRect/>
          </a:stretch>
        </p:blipFill>
        <p:spPr>
          <a:xfrm>
            <a:off x="-66282" y="182301"/>
            <a:ext cx="3073642" cy="6675699"/>
          </a:xfrm>
          <a:prstGeom prst="rect">
            <a:avLst/>
          </a:prstGeom>
        </p:spPr>
      </p:pic>
      <p:sp>
        <p:nvSpPr>
          <p:cNvPr id="20" name="Arrow: Right 19">
            <a:extLst>
              <a:ext uri="{FF2B5EF4-FFF2-40B4-BE49-F238E27FC236}">
                <a16:creationId xmlns:a16="http://schemas.microsoft.com/office/drawing/2014/main" id="{C416E6D3-9274-E28A-2EE8-DA6B386AEEC8}"/>
              </a:ext>
            </a:extLst>
          </p:cNvPr>
          <p:cNvSpPr/>
          <p:nvPr/>
        </p:nvSpPr>
        <p:spPr>
          <a:xfrm>
            <a:off x="2128831" y="2454849"/>
            <a:ext cx="800981" cy="2821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54C84320-E84D-012C-BF19-C75A58159F2C}"/>
              </a:ext>
            </a:extLst>
          </p:cNvPr>
          <p:cNvSpPr/>
          <p:nvPr/>
        </p:nvSpPr>
        <p:spPr>
          <a:xfrm>
            <a:off x="149290" y="3872204"/>
            <a:ext cx="2780522" cy="46166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AA20FAA-ED6C-CBFD-6160-26076D4A17F0}"/>
              </a:ext>
            </a:extLst>
          </p:cNvPr>
          <p:cNvSpPr/>
          <p:nvPr/>
        </p:nvSpPr>
        <p:spPr>
          <a:xfrm>
            <a:off x="1014096" y="3116424"/>
            <a:ext cx="833365" cy="52322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03257993-59D4-C203-C7CF-3338C897B17E}"/>
              </a:ext>
            </a:extLst>
          </p:cNvPr>
          <p:cNvSpPr/>
          <p:nvPr/>
        </p:nvSpPr>
        <p:spPr>
          <a:xfrm>
            <a:off x="0" y="2275667"/>
            <a:ext cx="2273547" cy="516293"/>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Settings</a:t>
            </a:r>
          </a:p>
          <a:p>
            <a:pPr algn="ctr"/>
            <a:r>
              <a:rPr lang="en-US" b="1" dirty="0">
                <a:solidFill>
                  <a:srgbClr val="FF0000"/>
                </a:solidFill>
              </a:rPr>
              <a:t>(Profile Edit Form)</a:t>
            </a:r>
            <a:endParaRPr lang="en-US" sz="1200" b="1" dirty="0">
              <a:solidFill>
                <a:srgbClr val="FF0000"/>
              </a:solidFill>
            </a:endParaRPr>
          </a:p>
        </p:txBody>
      </p:sp>
      <p:pic>
        <p:nvPicPr>
          <p:cNvPr id="7" name="Picture 6">
            <a:extLst>
              <a:ext uri="{FF2B5EF4-FFF2-40B4-BE49-F238E27FC236}">
                <a16:creationId xmlns:a16="http://schemas.microsoft.com/office/drawing/2014/main" id="{46BC54C7-9C5F-B3CF-D5A4-5E5D2A277DAB}"/>
              </a:ext>
            </a:extLst>
          </p:cNvPr>
          <p:cNvPicPr>
            <a:picLocks noChangeAspect="1"/>
          </p:cNvPicPr>
          <p:nvPr/>
        </p:nvPicPr>
        <p:blipFill rotWithShape="1">
          <a:blip r:embed="rId3"/>
          <a:srcRect l="11613" t="17061" r="1225" b="6237"/>
          <a:stretch/>
        </p:blipFill>
        <p:spPr>
          <a:xfrm>
            <a:off x="3007360" y="1789471"/>
            <a:ext cx="9184641" cy="5031136"/>
          </a:xfrm>
          <a:prstGeom prst="rect">
            <a:avLst/>
          </a:prstGeom>
        </p:spPr>
      </p:pic>
    </p:spTree>
    <p:extLst>
      <p:ext uri="{BB962C8B-B14F-4D97-AF65-F5344CB8AC3E}">
        <p14:creationId xmlns:p14="http://schemas.microsoft.com/office/powerpoint/2010/main" val="3262700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lnSpc>
                <a:spcPct val="100000"/>
              </a:lnSpc>
            </a:pPr>
            <a:r>
              <a:rPr lang="en-US" dirty="0">
                <a:latin typeface="Bahnschrift Condensed" panose="020B0502040204020203" pitchFamily="34" charset="0"/>
              </a:rPr>
              <a:t>Create ADMIN, MANAGER, TECHNICIAN</a:t>
            </a:r>
            <a:br>
              <a:rPr lang="en-US" dirty="0">
                <a:latin typeface="Bahnschrift Condensed" panose="020B0502040204020203" pitchFamily="34" charset="0"/>
              </a:rPr>
            </a:br>
            <a:r>
              <a:rPr lang="en-US" sz="1600" cap="none" dirty="0">
                <a:latin typeface="Bahnschrift Condensed" panose="020B0502040204020203" pitchFamily="34" charset="0"/>
              </a:rPr>
              <a:t>(Technician will have access to created task for 72 hours, then will be automatically deactivated the edit and delete option.</a:t>
            </a:r>
            <a:br>
              <a:rPr lang="en-US" sz="1600" cap="none" dirty="0">
                <a:latin typeface="Bahnschrift Condensed" panose="020B0502040204020203" pitchFamily="34" charset="0"/>
              </a:rPr>
            </a:br>
            <a:r>
              <a:rPr lang="en-US" sz="1600" cap="none" dirty="0">
                <a:latin typeface="Bahnschrift Condensed" panose="020B0502040204020203" pitchFamily="34" charset="0"/>
              </a:rPr>
              <a:t>Manager will have access to the task for up to 45 days, then edit and delete will be deactivated)</a:t>
            </a:r>
            <a:endParaRPr lang="en-US" dirty="0">
              <a:latin typeface="Bahnschrift Condensed" panose="020B0502040204020203" pitchFamily="34" charset="0"/>
            </a:endParaRPr>
          </a:p>
        </p:txBody>
      </p:sp>
      <p:graphicFrame>
        <p:nvGraphicFramePr>
          <p:cNvPr id="5" name="Table 5">
            <a:extLst>
              <a:ext uri="{FF2B5EF4-FFF2-40B4-BE49-F238E27FC236}">
                <a16:creationId xmlns:a16="http://schemas.microsoft.com/office/drawing/2014/main" id="{7D4C58CC-9E88-C21C-0C15-9B2C1403E82A}"/>
              </a:ext>
            </a:extLst>
          </p:cNvPr>
          <p:cNvGraphicFramePr>
            <a:graphicFrameLocks noGrp="1"/>
          </p:cNvGraphicFramePr>
          <p:nvPr>
            <p:ph idx="1"/>
            <p:extLst>
              <p:ext uri="{D42A27DB-BD31-4B8C-83A1-F6EECF244321}">
                <p14:modId xmlns:p14="http://schemas.microsoft.com/office/powerpoint/2010/main" val="3489448386"/>
              </p:ext>
            </p:extLst>
          </p:nvPr>
        </p:nvGraphicFramePr>
        <p:xfrm>
          <a:off x="3072650" y="1792937"/>
          <a:ext cx="6169314" cy="5083397"/>
        </p:xfrm>
        <a:graphic>
          <a:graphicData uri="http://schemas.openxmlformats.org/drawingml/2006/table">
            <a:tbl>
              <a:tblPr firstRow="1" bandRow="1">
                <a:tableStyleId>{7DF18680-E054-41AD-8BC1-D1AEF772440D}</a:tableStyleId>
              </a:tblPr>
              <a:tblGrid>
                <a:gridCol w="853863">
                  <a:extLst>
                    <a:ext uri="{9D8B030D-6E8A-4147-A177-3AD203B41FA5}">
                      <a16:colId xmlns:a16="http://schemas.microsoft.com/office/drawing/2014/main" val="2774619317"/>
                    </a:ext>
                  </a:extLst>
                </a:gridCol>
                <a:gridCol w="1784793">
                  <a:extLst>
                    <a:ext uri="{9D8B030D-6E8A-4147-A177-3AD203B41FA5}">
                      <a16:colId xmlns:a16="http://schemas.microsoft.com/office/drawing/2014/main" val="2349339759"/>
                    </a:ext>
                  </a:extLst>
                </a:gridCol>
                <a:gridCol w="380847">
                  <a:extLst>
                    <a:ext uri="{9D8B030D-6E8A-4147-A177-3AD203B41FA5}">
                      <a16:colId xmlns:a16="http://schemas.microsoft.com/office/drawing/2014/main" val="482642647"/>
                    </a:ext>
                  </a:extLst>
                </a:gridCol>
                <a:gridCol w="1054515">
                  <a:extLst>
                    <a:ext uri="{9D8B030D-6E8A-4147-A177-3AD203B41FA5}">
                      <a16:colId xmlns:a16="http://schemas.microsoft.com/office/drawing/2014/main" val="3168399359"/>
                    </a:ext>
                  </a:extLst>
                </a:gridCol>
                <a:gridCol w="1738495">
                  <a:extLst>
                    <a:ext uri="{9D8B030D-6E8A-4147-A177-3AD203B41FA5}">
                      <a16:colId xmlns:a16="http://schemas.microsoft.com/office/drawing/2014/main" val="743530212"/>
                    </a:ext>
                  </a:extLst>
                </a:gridCol>
                <a:gridCol w="356801">
                  <a:extLst>
                    <a:ext uri="{9D8B030D-6E8A-4147-A177-3AD203B41FA5}">
                      <a16:colId xmlns:a16="http://schemas.microsoft.com/office/drawing/2014/main" val="2974817211"/>
                    </a:ext>
                  </a:extLst>
                </a:gridCol>
              </a:tblGrid>
              <a:tr h="373616">
                <a:tc gridSpan="3">
                  <a:txBody>
                    <a:bodyPr/>
                    <a:lstStyle/>
                    <a:p>
                      <a:pPr algn="ctr"/>
                      <a:r>
                        <a:rPr lang="en-US" dirty="0"/>
                        <a:t>Admin</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algn="ctr"/>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dirty="0"/>
                        <a:t>Manager </a:t>
                      </a:r>
                    </a:p>
                  </a:txBody>
                  <a:tcPr>
                    <a:lnL w="127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algn="ctr"/>
                      <a:endParaRPr lang="en-US" dirty="0"/>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9784071"/>
                  </a:ext>
                </a:extLst>
              </a:tr>
              <a:tr h="800972">
                <a:tc>
                  <a:txBody>
                    <a:bodyPr/>
                    <a:lstStyle/>
                    <a:p>
                      <a:pPr lvl="0" algn="ctr"/>
                      <a:r>
                        <a:rPr lang="en-US" dirty="0"/>
                        <a:t>Name </a:t>
                      </a:r>
                    </a:p>
                  </a:txBody>
                  <a:tcPr>
                    <a:lnL w="12700" cmpd="sng">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Name </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76620205"/>
                  </a:ext>
                </a:extLst>
              </a:tr>
              <a:tr h="924633">
                <a:tc>
                  <a:txBody>
                    <a:bodyPr/>
                    <a:lstStyle/>
                    <a:p>
                      <a:pPr lvl="0" algn="ctr"/>
                      <a:r>
                        <a:rPr lang="en-US" dirty="0"/>
                        <a:t>Name </a:t>
                      </a:r>
                    </a:p>
                  </a:txBody>
                  <a:tcPr>
                    <a:lnL w="12700" cmpd="sng">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Name </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2967493"/>
                  </a:ext>
                </a:extLst>
              </a:tr>
              <a:tr h="1123028">
                <a:tc>
                  <a:txBody>
                    <a:bodyPr/>
                    <a:lstStyle/>
                    <a:p>
                      <a:pPr lvl="0" algn="ctr"/>
                      <a:r>
                        <a:rPr lang="en-US" dirty="0"/>
                        <a:t>Name </a:t>
                      </a:r>
                    </a:p>
                  </a:txBody>
                  <a:tcPr>
                    <a:lnL w="12700" cmpd="sng">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Name </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40064958"/>
                  </a:ext>
                </a:extLst>
              </a:tr>
              <a:tr h="930574">
                <a:tc>
                  <a:txBody>
                    <a:bodyPr/>
                    <a:lstStyle/>
                    <a:p>
                      <a:pPr lvl="0" algn="ctr"/>
                      <a:r>
                        <a:rPr lang="en-US" dirty="0"/>
                        <a:t>Name </a:t>
                      </a:r>
                    </a:p>
                  </a:txBody>
                  <a:tcPr>
                    <a:lnL w="12700" cmpd="sng">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Name </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456725"/>
                  </a:ext>
                </a:extLst>
              </a:tr>
              <a:tr h="930574">
                <a:tc gridSpan="3">
                  <a:txBody>
                    <a:bodyPr/>
                    <a:lstStyle/>
                    <a:p>
                      <a:pPr algn="ctr"/>
                      <a:r>
                        <a:rPr lang="en-US" dirty="0"/>
                        <a:t>Create</a:t>
                      </a:r>
                    </a:p>
                  </a:txBody>
                  <a:tcPr>
                    <a:lnL w="12700" cmpd="sng">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dirty="0"/>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a:p>
                  </a:txBody>
                  <a:tcPr/>
                </a:tc>
                <a:tc gridSpan="3">
                  <a:txBody>
                    <a:bodyPr/>
                    <a:lstStyle/>
                    <a:p>
                      <a:pPr algn="ctr"/>
                      <a:r>
                        <a:rPr lang="en-US" dirty="0"/>
                        <a:t>Create</a:t>
                      </a: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2578846426"/>
                  </a:ext>
                </a:extLst>
              </a:tr>
            </a:tbl>
          </a:graphicData>
        </a:graphic>
      </p:graphicFrame>
      <p:sp>
        <p:nvSpPr>
          <p:cNvPr id="8" name="Multiplication Sign 7">
            <a:extLst>
              <a:ext uri="{FF2B5EF4-FFF2-40B4-BE49-F238E27FC236}">
                <a16:creationId xmlns:a16="http://schemas.microsoft.com/office/drawing/2014/main" id="{C8537AA8-657B-E224-6AF4-99108622F978}"/>
              </a:ext>
            </a:extLst>
          </p:cNvPr>
          <p:cNvSpPr/>
          <p:nvPr/>
        </p:nvSpPr>
        <p:spPr>
          <a:xfrm>
            <a:off x="5726017" y="2387792"/>
            <a:ext cx="372862" cy="35510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Multiplication Sign 8">
            <a:extLst>
              <a:ext uri="{FF2B5EF4-FFF2-40B4-BE49-F238E27FC236}">
                <a16:creationId xmlns:a16="http://schemas.microsoft.com/office/drawing/2014/main" id="{659BE661-BEC0-8CEF-96A6-9C45F627494E}"/>
              </a:ext>
            </a:extLst>
          </p:cNvPr>
          <p:cNvSpPr/>
          <p:nvPr/>
        </p:nvSpPr>
        <p:spPr>
          <a:xfrm>
            <a:off x="5726017" y="3318333"/>
            <a:ext cx="372862" cy="35510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Multiplication Sign 9">
            <a:extLst>
              <a:ext uri="{FF2B5EF4-FFF2-40B4-BE49-F238E27FC236}">
                <a16:creationId xmlns:a16="http://schemas.microsoft.com/office/drawing/2014/main" id="{9053F37B-2450-6D7B-0956-079B6D133CB3}"/>
              </a:ext>
            </a:extLst>
          </p:cNvPr>
          <p:cNvSpPr/>
          <p:nvPr/>
        </p:nvSpPr>
        <p:spPr>
          <a:xfrm>
            <a:off x="5710651" y="4305755"/>
            <a:ext cx="372862" cy="35510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Multiplication Sign 10">
            <a:extLst>
              <a:ext uri="{FF2B5EF4-FFF2-40B4-BE49-F238E27FC236}">
                <a16:creationId xmlns:a16="http://schemas.microsoft.com/office/drawing/2014/main" id="{3E1A518D-439C-F46E-668D-D079AE7E1F44}"/>
              </a:ext>
            </a:extLst>
          </p:cNvPr>
          <p:cNvSpPr/>
          <p:nvPr/>
        </p:nvSpPr>
        <p:spPr>
          <a:xfrm>
            <a:off x="5726017" y="5283693"/>
            <a:ext cx="372862" cy="35510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B36070A2-DC5D-7689-0F64-889EACE1FB3A}"/>
              </a:ext>
            </a:extLst>
          </p:cNvPr>
          <p:cNvPicPr>
            <a:picLocks noChangeAspect="1"/>
          </p:cNvPicPr>
          <p:nvPr/>
        </p:nvPicPr>
        <p:blipFill>
          <a:blip r:embed="rId3"/>
          <a:stretch>
            <a:fillRect/>
          </a:stretch>
        </p:blipFill>
        <p:spPr>
          <a:xfrm>
            <a:off x="8946881" y="2457198"/>
            <a:ext cx="280440" cy="268247"/>
          </a:xfrm>
          <a:prstGeom prst="rect">
            <a:avLst/>
          </a:prstGeom>
        </p:spPr>
      </p:pic>
      <p:pic>
        <p:nvPicPr>
          <p:cNvPr id="13" name="Picture 12">
            <a:extLst>
              <a:ext uri="{FF2B5EF4-FFF2-40B4-BE49-F238E27FC236}">
                <a16:creationId xmlns:a16="http://schemas.microsoft.com/office/drawing/2014/main" id="{1457F414-E200-45A8-3A8D-C3BBDAB6E140}"/>
              </a:ext>
            </a:extLst>
          </p:cNvPr>
          <p:cNvPicPr>
            <a:picLocks noChangeAspect="1"/>
          </p:cNvPicPr>
          <p:nvPr/>
        </p:nvPicPr>
        <p:blipFill>
          <a:blip r:embed="rId3"/>
          <a:stretch>
            <a:fillRect/>
          </a:stretch>
        </p:blipFill>
        <p:spPr>
          <a:xfrm>
            <a:off x="8946881" y="3389706"/>
            <a:ext cx="280440" cy="268247"/>
          </a:xfrm>
          <a:prstGeom prst="rect">
            <a:avLst/>
          </a:prstGeom>
        </p:spPr>
      </p:pic>
      <p:pic>
        <p:nvPicPr>
          <p:cNvPr id="14" name="Picture 13">
            <a:extLst>
              <a:ext uri="{FF2B5EF4-FFF2-40B4-BE49-F238E27FC236}">
                <a16:creationId xmlns:a16="http://schemas.microsoft.com/office/drawing/2014/main" id="{6FF15BD4-E7CB-938A-ED24-DD73D9750E12}"/>
              </a:ext>
            </a:extLst>
          </p:cNvPr>
          <p:cNvPicPr>
            <a:picLocks noChangeAspect="1"/>
          </p:cNvPicPr>
          <p:nvPr/>
        </p:nvPicPr>
        <p:blipFill>
          <a:blip r:embed="rId3"/>
          <a:stretch>
            <a:fillRect/>
          </a:stretch>
        </p:blipFill>
        <p:spPr>
          <a:xfrm>
            <a:off x="8946881" y="4278783"/>
            <a:ext cx="280440" cy="268247"/>
          </a:xfrm>
          <a:prstGeom prst="rect">
            <a:avLst/>
          </a:prstGeom>
        </p:spPr>
      </p:pic>
      <p:pic>
        <p:nvPicPr>
          <p:cNvPr id="15" name="Picture 14">
            <a:extLst>
              <a:ext uri="{FF2B5EF4-FFF2-40B4-BE49-F238E27FC236}">
                <a16:creationId xmlns:a16="http://schemas.microsoft.com/office/drawing/2014/main" id="{C843FDAA-961B-69F9-74D7-3BB6F075F4DB}"/>
              </a:ext>
            </a:extLst>
          </p:cNvPr>
          <p:cNvPicPr>
            <a:picLocks noChangeAspect="1"/>
          </p:cNvPicPr>
          <p:nvPr/>
        </p:nvPicPr>
        <p:blipFill>
          <a:blip r:embed="rId3"/>
          <a:stretch>
            <a:fillRect/>
          </a:stretch>
        </p:blipFill>
        <p:spPr>
          <a:xfrm>
            <a:off x="8946881" y="5370553"/>
            <a:ext cx="280440" cy="268247"/>
          </a:xfrm>
          <a:prstGeom prst="rect">
            <a:avLst/>
          </a:prstGeom>
        </p:spPr>
      </p:pic>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4"/>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6"/>
              <a:stretch>
                <a:fillRect/>
              </a:stretch>
            </p:blipFill>
            <p:spPr>
              <a:xfrm>
                <a:off x="1829450" y="4336541"/>
                <a:ext cx="18000" cy="18000"/>
              </a:xfrm>
              <a:prstGeom prst="rect">
                <a:avLst/>
              </a:prstGeom>
            </p:spPr>
          </p:pic>
        </mc:Fallback>
      </mc:AlternateContent>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2000" b="1" dirty="0">
                <a:solidFill>
                  <a:srgbClr val="FF0000"/>
                </a:solidFill>
              </a:rPr>
              <a:t>(User)</a:t>
            </a:r>
            <a:endParaRPr lang="en-US" b="1" dirty="0">
              <a:solidFill>
                <a:srgbClr val="FF0000"/>
              </a:solidFill>
            </a:endParaRPr>
          </a:p>
        </p:txBody>
      </p:sp>
      <p:sp>
        <p:nvSpPr>
          <p:cNvPr id="24" name="Arrow: Right 23">
            <a:extLst>
              <a:ext uri="{FF2B5EF4-FFF2-40B4-BE49-F238E27FC236}">
                <a16:creationId xmlns:a16="http://schemas.microsoft.com/office/drawing/2014/main" id="{03133E4B-9D0F-92A7-9693-2F1721D5B388}"/>
              </a:ext>
            </a:extLst>
          </p:cNvPr>
          <p:cNvSpPr/>
          <p:nvPr/>
        </p:nvSpPr>
        <p:spPr>
          <a:xfrm>
            <a:off x="2162931" y="2346224"/>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5" name="Table 24">
            <a:extLst>
              <a:ext uri="{FF2B5EF4-FFF2-40B4-BE49-F238E27FC236}">
                <a16:creationId xmlns:a16="http://schemas.microsoft.com/office/drawing/2014/main" id="{4E69D318-BF16-D542-DF57-E13D47351197}"/>
              </a:ext>
            </a:extLst>
          </p:cNvPr>
          <p:cNvGraphicFramePr>
            <a:graphicFrameLocks noGrp="1"/>
          </p:cNvGraphicFramePr>
          <p:nvPr>
            <p:extLst>
              <p:ext uri="{D42A27DB-BD31-4B8C-83A1-F6EECF244321}">
                <p14:modId xmlns:p14="http://schemas.microsoft.com/office/powerpoint/2010/main" val="721640946"/>
              </p:ext>
            </p:extLst>
          </p:nvPr>
        </p:nvGraphicFramePr>
        <p:xfrm>
          <a:off x="9227321" y="1799289"/>
          <a:ext cx="2964679" cy="5083397"/>
        </p:xfrm>
        <a:graphic>
          <a:graphicData uri="http://schemas.openxmlformats.org/drawingml/2006/table">
            <a:tbl>
              <a:tblPr firstRow="1" bandRow="1">
                <a:tableStyleId>{7DF18680-E054-41AD-8BC1-D1AEF772440D}</a:tableStyleId>
              </a:tblPr>
              <a:tblGrid>
                <a:gridCol w="992535">
                  <a:extLst>
                    <a:ext uri="{9D8B030D-6E8A-4147-A177-3AD203B41FA5}">
                      <a16:colId xmlns:a16="http://schemas.microsoft.com/office/drawing/2014/main" val="3676167874"/>
                    </a:ext>
                  </a:extLst>
                </a:gridCol>
                <a:gridCol w="1636314">
                  <a:extLst>
                    <a:ext uri="{9D8B030D-6E8A-4147-A177-3AD203B41FA5}">
                      <a16:colId xmlns:a16="http://schemas.microsoft.com/office/drawing/2014/main" val="3463929532"/>
                    </a:ext>
                  </a:extLst>
                </a:gridCol>
                <a:gridCol w="335830">
                  <a:extLst>
                    <a:ext uri="{9D8B030D-6E8A-4147-A177-3AD203B41FA5}">
                      <a16:colId xmlns:a16="http://schemas.microsoft.com/office/drawing/2014/main" val="2763817294"/>
                    </a:ext>
                  </a:extLst>
                </a:gridCol>
              </a:tblGrid>
              <a:tr h="373616">
                <a:tc gridSpan="3">
                  <a:txBody>
                    <a:bodyPr/>
                    <a:lstStyle/>
                    <a:p>
                      <a:pPr algn="ctr"/>
                      <a:r>
                        <a:rPr lang="en-US" dirty="0"/>
                        <a:t>Technician </a:t>
                      </a:r>
                    </a:p>
                  </a:txBody>
                  <a:tcPr>
                    <a:lnL w="127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hMerge="1">
                  <a:txBody>
                    <a:bodyPr/>
                    <a:lstStyle/>
                    <a:p>
                      <a:pPr algn="ctr"/>
                      <a:endParaRPr lang="en-US" dirty="0"/>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6225390"/>
                  </a:ext>
                </a:extLst>
              </a:tr>
              <a:tr h="800972">
                <a:tc>
                  <a:txBody>
                    <a:bodyPr/>
                    <a:lstStyle/>
                    <a:p>
                      <a:endParaRPr lang="en-US"/>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3632678"/>
                  </a:ext>
                </a:extLst>
              </a:tr>
              <a:tr h="924633">
                <a:tc>
                  <a:txBody>
                    <a:bodyPr/>
                    <a:lstStyle/>
                    <a:p>
                      <a:endParaRPr lang="en-US"/>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269383"/>
                  </a:ext>
                </a:extLst>
              </a:tr>
              <a:tr h="1123028">
                <a:tc>
                  <a:txBody>
                    <a:bodyPr/>
                    <a:lstStyle/>
                    <a:p>
                      <a:endParaRPr lang="en-US"/>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78395614"/>
                  </a:ext>
                </a:extLst>
              </a:tr>
              <a:tr h="930574">
                <a:tc>
                  <a:txBody>
                    <a:bodyPr/>
                    <a:lstStyle/>
                    <a:p>
                      <a:endParaRPr lang="en-US"/>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79324903"/>
                  </a:ext>
                </a:extLst>
              </a:tr>
              <a:tr h="930574">
                <a:tc gridSpan="3">
                  <a:txBody>
                    <a:bodyPr/>
                    <a:lstStyle/>
                    <a:p>
                      <a:pPr algn="ctr"/>
                      <a:r>
                        <a:rPr lang="en-US" dirty="0"/>
                        <a:t>Create </a:t>
                      </a:r>
                    </a:p>
                  </a:txBody>
                  <a:tcPr>
                    <a:lnL w="38100" cap="flat" cmpd="sng" algn="ctr">
                      <a:solidFill>
                        <a:schemeClr val="tx1"/>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dirty="0"/>
                    </a:p>
                  </a:txBody>
                  <a:tcPr>
                    <a:lnL w="381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n-US"/>
                    </a:p>
                  </a:txBody>
                  <a:tcPr/>
                </a:tc>
                <a:extLst>
                  <a:ext uri="{0D108BD9-81ED-4DB2-BD59-A6C34878D82A}">
                    <a16:rowId xmlns:a16="http://schemas.microsoft.com/office/drawing/2014/main" val="1546670368"/>
                  </a:ext>
                </a:extLst>
              </a:tr>
            </a:tbl>
          </a:graphicData>
        </a:graphic>
      </p:graphicFrame>
      <p:pic>
        <p:nvPicPr>
          <p:cNvPr id="26" name="Picture 25">
            <a:extLst>
              <a:ext uri="{FF2B5EF4-FFF2-40B4-BE49-F238E27FC236}">
                <a16:creationId xmlns:a16="http://schemas.microsoft.com/office/drawing/2014/main" id="{961B37EE-2992-B79B-74F0-71635159B380}"/>
              </a:ext>
            </a:extLst>
          </p:cNvPr>
          <p:cNvPicPr>
            <a:picLocks noChangeAspect="1"/>
          </p:cNvPicPr>
          <p:nvPr/>
        </p:nvPicPr>
        <p:blipFill>
          <a:blip r:embed="rId3"/>
          <a:stretch>
            <a:fillRect/>
          </a:stretch>
        </p:blipFill>
        <p:spPr>
          <a:xfrm>
            <a:off x="11881812" y="2462118"/>
            <a:ext cx="280440" cy="268247"/>
          </a:xfrm>
          <a:prstGeom prst="rect">
            <a:avLst/>
          </a:prstGeom>
        </p:spPr>
      </p:pic>
      <p:pic>
        <p:nvPicPr>
          <p:cNvPr id="27" name="Picture 26">
            <a:extLst>
              <a:ext uri="{FF2B5EF4-FFF2-40B4-BE49-F238E27FC236}">
                <a16:creationId xmlns:a16="http://schemas.microsoft.com/office/drawing/2014/main" id="{A98E063A-BD7B-3FE0-BF73-CA1AC56DA42F}"/>
              </a:ext>
            </a:extLst>
          </p:cNvPr>
          <p:cNvPicPr>
            <a:picLocks noChangeAspect="1"/>
          </p:cNvPicPr>
          <p:nvPr/>
        </p:nvPicPr>
        <p:blipFill>
          <a:blip r:embed="rId3"/>
          <a:stretch>
            <a:fillRect/>
          </a:stretch>
        </p:blipFill>
        <p:spPr>
          <a:xfrm>
            <a:off x="11881812" y="3394626"/>
            <a:ext cx="280440" cy="268247"/>
          </a:xfrm>
          <a:prstGeom prst="rect">
            <a:avLst/>
          </a:prstGeom>
        </p:spPr>
      </p:pic>
      <p:pic>
        <p:nvPicPr>
          <p:cNvPr id="28" name="Picture 27">
            <a:extLst>
              <a:ext uri="{FF2B5EF4-FFF2-40B4-BE49-F238E27FC236}">
                <a16:creationId xmlns:a16="http://schemas.microsoft.com/office/drawing/2014/main" id="{3A80BEE1-61C5-78BD-F119-731689A5BF0B}"/>
              </a:ext>
            </a:extLst>
          </p:cNvPr>
          <p:cNvPicPr>
            <a:picLocks noChangeAspect="1"/>
          </p:cNvPicPr>
          <p:nvPr/>
        </p:nvPicPr>
        <p:blipFill>
          <a:blip r:embed="rId3"/>
          <a:stretch>
            <a:fillRect/>
          </a:stretch>
        </p:blipFill>
        <p:spPr>
          <a:xfrm>
            <a:off x="11881812" y="4283703"/>
            <a:ext cx="280440" cy="268247"/>
          </a:xfrm>
          <a:prstGeom prst="rect">
            <a:avLst/>
          </a:prstGeom>
        </p:spPr>
      </p:pic>
      <p:pic>
        <p:nvPicPr>
          <p:cNvPr id="29" name="Picture 28">
            <a:extLst>
              <a:ext uri="{FF2B5EF4-FFF2-40B4-BE49-F238E27FC236}">
                <a16:creationId xmlns:a16="http://schemas.microsoft.com/office/drawing/2014/main" id="{EA92DD82-57B2-99FE-8D0C-46FABAFF8DD7}"/>
              </a:ext>
            </a:extLst>
          </p:cNvPr>
          <p:cNvPicPr>
            <a:picLocks noChangeAspect="1"/>
          </p:cNvPicPr>
          <p:nvPr/>
        </p:nvPicPr>
        <p:blipFill>
          <a:blip r:embed="rId3"/>
          <a:stretch>
            <a:fillRect/>
          </a:stretch>
        </p:blipFill>
        <p:spPr>
          <a:xfrm>
            <a:off x="11881812" y="5375473"/>
            <a:ext cx="280440" cy="268247"/>
          </a:xfrm>
          <a:prstGeom prst="rect">
            <a:avLst/>
          </a:prstGeom>
        </p:spPr>
      </p:pic>
      <p:sp>
        <p:nvSpPr>
          <p:cNvPr id="3" name="Rectangle 2">
            <a:extLst>
              <a:ext uri="{FF2B5EF4-FFF2-40B4-BE49-F238E27FC236}">
                <a16:creationId xmlns:a16="http://schemas.microsoft.com/office/drawing/2014/main" id="{75F2228F-95E0-2C18-1B9E-9C70D331FA3C}"/>
              </a:ext>
            </a:extLst>
          </p:cNvPr>
          <p:cNvSpPr/>
          <p:nvPr/>
        </p:nvSpPr>
        <p:spPr>
          <a:xfrm>
            <a:off x="1105588" y="3060441"/>
            <a:ext cx="1162345" cy="49228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2C1C286-B77D-9DE7-1A51-4AFDCE619688}"/>
              </a:ext>
            </a:extLst>
          </p:cNvPr>
          <p:cNvSpPr/>
          <p:nvPr/>
        </p:nvSpPr>
        <p:spPr>
          <a:xfrm>
            <a:off x="141235" y="3842351"/>
            <a:ext cx="2714105" cy="49228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78488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lnSpc>
                <a:spcPct val="100000"/>
              </a:lnSpc>
            </a:pPr>
            <a:r>
              <a:rPr lang="en-US" dirty="0">
                <a:latin typeface="Bahnschrift Condensed" panose="020B0502040204020203" pitchFamily="34" charset="0"/>
              </a:rPr>
              <a:t>Create user form with access role</a:t>
            </a: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23" name="Rectangle 22">
            <a:extLst>
              <a:ext uri="{FF2B5EF4-FFF2-40B4-BE49-F238E27FC236}">
                <a16:creationId xmlns:a16="http://schemas.microsoft.com/office/drawing/2014/main" id="{9C55F1AE-9EDF-58EF-2F37-362DBEF34E86}"/>
              </a:ext>
            </a:extLst>
          </p:cNvPr>
          <p:cNvSpPr/>
          <p:nvPr/>
        </p:nvSpPr>
        <p:spPr>
          <a:xfrm>
            <a:off x="141236" y="2143432"/>
            <a:ext cx="2126698"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b="1" dirty="0">
                <a:solidFill>
                  <a:srgbClr val="FF0000"/>
                </a:solidFill>
              </a:rPr>
              <a:t>(Create User Form)</a:t>
            </a:r>
          </a:p>
        </p:txBody>
      </p:sp>
      <p:sp>
        <p:nvSpPr>
          <p:cNvPr id="24" name="Arrow: Right 23">
            <a:extLst>
              <a:ext uri="{FF2B5EF4-FFF2-40B4-BE49-F238E27FC236}">
                <a16:creationId xmlns:a16="http://schemas.microsoft.com/office/drawing/2014/main" id="{03133E4B-9D0F-92A7-9693-2F1721D5B388}"/>
              </a:ext>
            </a:extLst>
          </p:cNvPr>
          <p:cNvSpPr/>
          <p:nvPr/>
        </p:nvSpPr>
        <p:spPr>
          <a:xfrm>
            <a:off x="2162931" y="2346224"/>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5F2228F-95E0-2C18-1B9E-9C70D331FA3C}"/>
              </a:ext>
            </a:extLst>
          </p:cNvPr>
          <p:cNvSpPr/>
          <p:nvPr/>
        </p:nvSpPr>
        <p:spPr>
          <a:xfrm>
            <a:off x="1105588" y="3060441"/>
            <a:ext cx="1162345" cy="49228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2C1C286-B77D-9DE7-1A51-4AFDCE619688}"/>
              </a:ext>
            </a:extLst>
          </p:cNvPr>
          <p:cNvSpPr/>
          <p:nvPr/>
        </p:nvSpPr>
        <p:spPr>
          <a:xfrm>
            <a:off x="141235" y="3842351"/>
            <a:ext cx="2714105" cy="49228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8074F847-19A0-CB4B-804F-A992BC7EBFA7}"/>
              </a:ext>
            </a:extLst>
          </p:cNvPr>
          <p:cNvPicPr>
            <a:picLocks noChangeAspect="1"/>
          </p:cNvPicPr>
          <p:nvPr/>
        </p:nvPicPr>
        <p:blipFill rotWithShape="1">
          <a:blip r:embed="rId6"/>
          <a:srcRect l="11532" t="16487" r="2339" b="5089"/>
          <a:stretch/>
        </p:blipFill>
        <p:spPr>
          <a:xfrm>
            <a:off x="3072650" y="1765313"/>
            <a:ext cx="9119350" cy="5092687"/>
          </a:xfrm>
          <a:prstGeom prst="rect">
            <a:avLst/>
          </a:prstGeom>
        </p:spPr>
      </p:pic>
    </p:spTree>
    <p:extLst>
      <p:ext uri="{BB962C8B-B14F-4D97-AF65-F5344CB8AC3E}">
        <p14:creationId xmlns:p14="http://schemas.microsoft.com/office/powerpoint/2010/main" val="3995130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lstStyle/>
          <a:p>
            <a:pPr algn="ctr"/>
            <a:r>
              <a:rPr lang="en-US" dirty="0">
                <a:latin typeface="Bahnschrift Condensed" panose="020B0502040204020203" pitchFamily="34" charset="0"/>
              </a:rPr>
              <a:t>Work and price</a:t>
            </a: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600" b="1" dirty="0">
                <a:solidFill>
                  <a:srgbClr val="FF0000"/>
                </a:solidFill>
              </a:rPr>
              <a:t>(Work &amp; Price)</a:t>
            </a:r>
            <a:endParaRPr lang="en-US" sz="1100" b="1" dirty="0">
              <a:solidFill>
                <a:srgbClr val="FF0000"/>
              </a:solidFill>
            </a:endParaRPr>
          </a:p>
        </p:txBody>
      </p:sp>
      <p:sp>
        <p:nvSpPr>
          <p:cNvPr id="24" name="Arrow: Right 23">
            <a:extLst>
              <a:ext uri="{FF2B5EF4-FFF2-40B4-BE49-F238E27FC236}">
                <a16:creationId xmlns:a16="http://schemas.microsoft.com/office/drawing/2014/main" id="{03133E4B-9D0F-92A7-9693-2F1721D5B388}"/>
              </a:ext>
            </a:extLst>
          </p:cNvPr>
          <p:cNvSpPr/>
          <p:nvPr/>
        </p:nvSpPr>
        <p:spPr>
          <a:xfrm>
            <a:off x="2256727" y="2361028"/>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37119CEE-C82D-9007-809A-92D0E043E849}"/>
              </a:ext>
            </a:extLst>
          </p:cNvPr>
          <p:cNvPicPr>
            <a:picLocks noChangeAspect="1"/>
          </p:cNvPicPr>
          <p:nvPr/>
        </p:nvPicPr>
        <p:blipFill rotWithShape="1">
          <a:blip r:embed="rId6"/>
          <a:srcRect l="16441" t="12145" b="8605"/>
          <a:stretch/>
        </p:blipFill>
        <p:spPr>
          <a:xfrm>
            <a:off x="3072650" y="1610040"/>
            <a:ext cx="9119350" cy="5250809"/>
          </a:xfrm>
          <a:prstGeom prst="rect">
            <a:avLst/>
          </a:prstGeom>
        </p:spPr>
      </p:pic>
    </p:spTree>
    <p:extLst>
      <p:ext uri="{BB962C8B-B14F-4D97-AF65-F5344CB8AC3E}">
        <p14:creationId xmlns:p14="http://schemas.microsoft.com/office/powerpoint/2010/main" val="4583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3032322" y="256553"/>
            <a:ext cx="9159678" cy="1508760"/>
          </a:xfrm>
        </p:spPr>
        <p:txBody>
          <a:bodyPr>
            <a:normAutofit/>
          </a:bodyPr>
          <a:lstStyle/>
          <a:p>
            <a:pPr algn="ctr"/>
            <a:r>
              <a:rPr lang="en-US" dirty="0">
                <a:latin typeface="Bahnschrift Condensed" panose="020B0502040204020203" pitchFamily="34" charset="0"/>
              </a:rPr>
              <a:t>Create Work and price</a:t>
            </a:r>
            <a:br>
              <a:rPr lang="en-US" dirty="0">
                <a:latin typeface="Bahnschrift Condensed" panose="020B0502040204020203" pitchFamily="34" charset="0"/>
              </a:rPr>
            </a:br>
            <a:r>
              <a:rPr lang="en-US" sz="1800" cap="none" dirty="0">
                <a:latin typeface="Bahnschrift Condensed" panose="020B0502040204020203" pitchFamily="34" charset="0"/>
              </a:rPr>
              <a:t>(Create group and create work type can be on separate page or on the same page.</a:t>
            </a:r>
            <a:br>
              <a:rPr lang="en-US" sz="1800" cap="none" dirty="0">
                <a:latin typeface="Bahnschrift Condensed" panose="020B0502040204020203" pitchFamily="34" charset="0"/>
              </a:rPr>
            </a:br>
            <a:r>
              <a:rPr lang="en-US" sz="1800" cap="none" dirty="0">
                <a:latin typeface="Bahnschrift Condensed" panose="020B0502040204020203" pitchFamily="34" charset="0"/>
              </a:rPr>
              <a:t>Depending on the work group selection the options to select the “Order Page” will be visible or invisible)</a:t>
            </a:r>
            <a:endParaRPr lang="en-US" sz="20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176982" y="2143432"/>
            <a:ext cx="2678358"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400" b="1" dirty="0">
                <a:solidFill>
                  <a:srgbClr val="FF0000"/>
                </a:solidFill>
              </a:rPr>
              <a:t>(Work and Price View)</a:t>
            </a:r>
          </a:p>
        </p:txBody>
      </p:sp>
      <p:sp>
        <p:nvSpPr>
          <p:cNvPr id="24" name="Arrow: Right 23">
            <a:extLst>
              <a:ext uri="{FF2B5EF4-FFF2-40B4-BE49-F238E27FC236}">
                <a16:creationId xmlns:a16="http://schemas.microsoft.com/office/drawing/2014/main" id="{03133E4B-9D0F-92A7-9693-2F1721D5B388}"/>
              </a:ext>
            </a:extLst>
          </p:cNvPr>
          <p:cNvSpPr/>
          <p:nvPr/>
        </p:nvSpPr>
        <p:spPr>
          <a:xfrm>
            <a:off x="2339913" y="2299206"/>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000A553-5754-BEFA-5340-F9D826565166}"/>
              </a:ext>
            </a:extLst>
          </p:cNvPr>
          <p:cNvSpPr/>
          <p:nvPr/>
        </p:nvSpPr>
        <p:spPr>
          <a:xfrm>
            <a:off x="3163078" y="1922106"/>
            <a:ext cx="8938726" cy="48332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 name="TextBox 9">
            <a:extLst>
              <a:ext uri="{FF2B5EF4-FFF2-40B4-BE49-F238E27FC236}">
                <a16:creationId xmlns:a16="http://schemas.microsoft.com/office/drawing/2014/main" id="{7E9E3BB1-0950-0660-D733-422998139BAF}"/>
              </a:ext>
            </a:extLst>
          </p:cNvPr>
          <p:cNvSpPr txBox="1"/>
          <p:nvPr/>
        </p:nvSpPr>
        <p:spPr>
          <a:xfrm>
            <a:off x="4422709" y="2453952"/>
            <a:ext cx="1474237" cy="338554"/>
          </a:xfrm>
          <a:prstGeom prst="rect">
            <a:avLst/>
          </a:prstGeom>
          <a:noFill/>
        </p:spPr>
        <p:txBody>
          <a:bodyPr wrap="square" rtlCol="0">
            <a:spAutoFit/>
          </a:bodyPr>
          <a:lstStyle/>
          <a:p>
            <a:pPr algn="r"/>
            <a:r>
              <a:rPr lang="en-US" sz="1600" dirty="0">
                <a:solidFill>
                  <a:schemeClr val="bg1"/>
                </a:solidFill>
              </a:rPr>
              <a:t>Lab Form:</a:t>
            </a:r>
          </a:p>
        </p:txBody>
      </p:sp>
      <p:sp>
        <p:nvSpPr>
          <p:cNvPr id="11" name="TextBox 10">
            <a:extLst>
              <a:ext uri="{FF2B5EF4-FFF2-40B4-BE49-F238E27FC236}">
                <a16:creationId xmlns:a16="http://schemas.microsoft.com/office/drawing/2014/main" id="{EEDAC1AA-2253-2E43-1304-E0DF1B602740}"/>
              </a:ext>
            </a:extLst>
          </p:cNvPr>
          <p:cNvSpPr txBox="1"/>
          <p:nvPr/>
        </p:nvSpPr>
        <p:spPr>
          <a:xfrm>
            <a:off x="5896946" y="2483667"/>
            <a:ext cx="2808515" cy="253916"/>
          </a:xfrm>
          <a:prstGeom prst="rect">
            <a:avLst/>
          </a:prstGeom>
          <a:noFill/>
          <a:ln w="12700">
            <a:solidFill>
              <a:schemeClr val="bg1"/>
            </a:solidFill>
          </a:ln>
        </p:spPr>
        <p:txBody>
          <a:bodyPr wrap="square" rtlCol="0">
            <a:spAutoFit/>
          </a:bodyPr>
          <a:lstStyle/>
          <a:p>
            <a:pPr algn="ctr"/>
            <a:r>
              <a:rPr lang="en-US" sz="1050" b="1" dirty="0">
                <a:solidFill>
                  <a:schemeClr val="bg1"/>
                </a:solidFill>
              </a:rPr>
              <a:t>A/B/C</a:t>
            </a:r>
          </a:p>
        </p:txBody>
      </p:sp>
      <p:sp>
        <p:nvSpPr>
          <p:cNvPr id="18" name="TextBox 17">
            <a:extLst>
              <a:ext uri="{FF2B5EF4-FFF2-40B4-BE49-F238E27FC236}">
                <a16:creationId xmlns:a16="http://schemas.microsoft.com/office/drawing/2014/main" id="{2D8E2A90-ABE4-9397-667D-ED9BE4162861}"/>
              </a:ext>
            </a:extLst>
          </p:cNvPr>
          <p:cNvSpPr txBox="1"/>
          <p:nvPr/>
        </p:nvSpPr>
        <p:spPr>
          <a:xfrm>
            <a:off x="4425817" y="2932915"/>
            <a:ext cx="1474237" cy="338554"/>
          </a:xfrm>
          <a:prstGeom prst="rect">
            <a:avLst/>
          </a:prstGeom>
          <a:noFill/>
        </p:spPr>
        <p:txBody>
          <a:bodyPr wrap="square" rtlCol="0">
            <a:spAutoFit/>
          </a:bodyPr>
          <a:lstStyle/>
          <a:p>
            <a:pPr algn="r"/>
            <a:r>
              <a:rPr lang="en-US" sz="1600" dirty="0">
                <a:solidFill>
                  <a:schemeClr val="bg1"/>
                </a:solidFill>
              </a:rPr>
              <a:t>Select Group:</a:t>
            </a:r>
          </a:p>
        </p:txBody>
      </p:sp>
      <p:sp>
        <p:nvSpPr>
          <p:cNvPr id="19" name="TextBox 18">
            <a:extLst>
              <a:ext uri="{FF2B5EF4-FFF2-40B4-BE49-F238E27FC236}">
                <a16:creationId xmlns:a16="http://schemas.microsoft.com/office/drawing/2014/main" id="{75F79171-65A7-5D0F-F421-740F4A9373BD}"/>
              </a:ext>
            </a:extLst>
          </p:cNvPr>
          <p:cNvSpPr txBox="1"/>
          <p:nvPr/>
        </p:nvSpPr>
        <p:spPr>
          <a:xfrm>
            <a:off x="5900054" y="2962630"/>
            <a:ext cx="2808515" cy="253916"/>
          </a:xfrm>
          <a:prstGeom prst="rect">
            <a:avLst/>
          </a:prstGeom>
          <a:noFill/>
          <a:ln w="12700">
            <a:solidFill>
              <a:schemeClr val="bg1"/>
            </a:solidFill>
          </a:ln>
        </p:spPr>
        <p:txBody>
          <a:bodyPr wrap="square" rtlCol="0">
            <a:spAutoFit/>
          </a:bodyPr>
          <a:lstStyle/>
          <a:p>
            <a:pPr algn="ctr"/>
            <a:r>
              <a:rPr lang="en-US" sz="1050" b="1" dirty="0">
                <a:solidFill>
                  <a:schemeClr val="bg1"/>
                </a:solidFill>
              </a:rPr>
              <a:t>Crown &amp; Bridge</a:t>
            </a:r>
            <a:endParaRPr lang="en-US" sz="900" b="1" dirty="0">
              <a:solidFill>
                <a:schemeClr val="bg1"/>
              </a:solidFill>
            </a:endParaRPr>
          </a:p>
        </p:txBody>
      </p:sp>
      <p:sp>
        <p:nvSpPr>
          <p:cNvPr id="20" name="TextBox 19">
            <a:extLst>
              <a:ext uri="{FF2B5EF4-FFF2-40B4-BE49-F238E27FC236}">
                <a16:creationId xmlns:a16="http://schemas.microsoft.com/office/drawing/2014/main" id="{4DF23F69-7F0A-D18B-471C-57C15E6F2B3D}"/>
              </a:ext>
            </a:extLst>
          </p:cNvPr>
          <p:cNvSpPr txBox="1"/>
          <p:nvPr/>
        </p:nvSpPr>
        <p:spPr>
          <a:xfrm>
            <a:off x="4422709" y="3421688"/>
            <a:ext cx="1474237" cy="338554"/>
          </a:xfrm>
          <a:prstGeom prst="rect">
            <a:avLst/>
          </a:prstGeom>
          <a:noFill/>
        </p:spPr>
        <p:txBody>
          <a:bodyPr wrap="square" rtlCol="0">
            <a:spAutoFit/>
          </a:bodyPr>
          <a:lstStyle/>
          <a:p>
            <a:pPr algn="r"/>
            <a:r>
              <a:rPr lang="en-US" sz="1600" dirty="0">
                <a:solidFill>
                  <a:schemeClr val="bg1"/>
                </a:solidFill>
              </a:rPr>
              <a:t>Work Name:</a:t>
            </a:r>
          </a:p>
        </p:txBody>
      </p:sp>
      <p:sp>
        <p:nvSpPr>
          <p:cNvPr id="21" name="TextBox 20">
            <a:extLst>
              <a:ext uri="{FF2B5EF4-FFF2-40B4-BE49-F238E27FC236}">
                <a16:creationId xmlns:a16="http://schemas.microsoft.com/office/drawing/2014/main" id="{A0505093-4442-BD79-D240-13FE5644D0A4}"/>
              </a:ext>
            </a:extLst>
          </p:cNvPr>
          <p:cNvSpPr txBox="1"/>
          <p:nvPr/>
        </p:nvSpPr>
        <p:spPr>
          <a:xfrm>
            <a:off x="5896946" y="3460734"/>
            <a:ext cx="2808515" cy="253916"/>
          </a:xfrm>
          <a:prstGeom prst="rect">
            <a:avLst/>
          </a:prstGeom>
          <a:noFill/>
          <a:ln w="12700">
            <a:solidFill>
              <a:schemeClr val="bg1"/>
            </a:solidFill>
          </a:ln>
        </p:spPr>
        <p:txBody>
          <a:bodyPr wrap="square" rtlCol="0">
            <a:spAutoFit/>
          </a:bodyPr>
          <a:lstStyle/>
          <a:p>
            <a:pPr algn="ctr"/>
            <a:r>
              <a:rPr lang="en-US" sz="1050" b="1" dirty="0">
                <a:solidFill>
                  <a:schemeClr val="bg1"/>
                </a:solidFill>
              </a:rPr>
              <a:t>PFM Crown</a:t>
            </a:r>
          </a:p>
        </p:txBody>
      </p:sp>
      <p:sp>
        <p:nvSpPr>
          <p:cNvPr id="25" name="TextBox 24">
            <a:extLst>
              <a:ext uri="{FF2B5EF4-FFF2-40B4-BE49-F238E27FC236}">
                <a16:creationId xmlns:a16="http://schemas.microsoft.com/office/drawing/2014/main" id="{FA1E1DBB-6B99-93D1-DB30-3C5FE2202DF1}"/>
              </a:ext>
            </a:extLst>
          </p:cNvPr>
          <p:cNvSpPr txBox="1"/>
          <p:nvPr/>
        </p:nvSpPr>
        <p:spPr>
          <a:xfrm>
            <a:off x="4422709" y="3899436"/>
            <a:ext cx="1474237" cy="338554"/>
          </a:xfrm>
          <a:prstGeom prst="rect">
            <a:avLst/>
          </a:prstGeom>
          <a:noFill/>
        </p:spPr>
        <p:txBody>
          <a:bodyPr wrap="square" rtlCol="0">
            <a:spAutoFit/>
          </a:bodyPr>
          <a:lstStyle/>
          <a:p>
            <a:pPr algn="r"/>
            <a:r>
              <a:rPr lang="en-US" sz="1600" dirty="0">
                <a:solidFill>
                  <a:schemeClr val="bg1"/>
                </a:solidFill>
              </a:rPr>
              <a:t>Enter Price:</a:t>
            </a:r>
          </a:p>
        </p:txBody>
      </p:sp>
      <p:sp>
        <p:nvSpPr>
          <p:cNvPr id="27" name="TextBox 26">
            <a:extLst>
              <a:ext uri="{FF2B5EF4-FFF2-40B4-BE49-F238E27FC236}">
                <a16:creationId xmlns:a16="http://schemas.microsoft.com/office/drawing/2014/main" id="{993583FB-A6FD-7F41-01C7-FC4432947475}"/>
              </a:ext>
            </a:extLst>
          </p:cNvPr>
          <p:cNvSpPr txBox="1"/>
          <p:nvPr/>
        </p:nvSpPr>
        <p:spPr>
          <a:xfrm>
            <a:off x="5896946" y="3929151"/>
            <a:ext cx="2808515" cy="253916"/>
          </a:xfrm>
          <a:prstGeom prst="rect">
            <a:avLst/>
          </a:prstGeom>
          <a:noFill/>
          <a:ln w="12700">
            <a:solidFill>
              <a:schemeClr val="bg1"/>
            </a:solidFill>
          </a:ln>
        </p:spPr>
        <p:txBody>
          <a:bodyPr wrap="square" rtlCol="0">
            <a:spAutoFit/>
          </a:bodyPr>
          <a:lstStyle/>
          <a:p>
            <a:pPr algn="ctr"/>
            <a:r>
              <a:rPr lang="en-US" sz="1050" b="1" dirty="0">
                <a:solidFill>
                  <a:schemeClr val="bg1"/>
                </a:solidFill>
              </a:rPr>
              <a:t>150.00</a:t>
            </a:r>
          </a:p>
        </p:txBody>
      </p:sp>
      <p:sp>
        <p:nvSpPr>
          <p:cNvPr id="31" name="TextBox 30">
            <a:extLst>
              <a:ext uri="{FF2B5EF4-FFF2-40B4-BE49-F238E27FC236}">
                <a16:creationId xmlns:a16="http://schemas.microsoft.com/office/drawing/2014/main" id="{86510337-1230-F6E2-BD5B-3C9BA8FA43B4}"/>
              </a:ext>
            </a:extLst>
          </p:cNvPr>
          <p:cNvSpPr txBox="1"/>
          <p:nvPr/>
        </p:nvSpPr>
        <p:spPr>
          <a:xfrm>
            <a:off x="4348065" y="4377184"/>
            <a:ext cx="1548881" cy="338554"/>
          </a:xfrm>
          <a:prstGeom prst="rect">
            <a:avLst/>
          </a:prstGeom>
          <a:noFill/>
        </p:spPr>
        <p:txBody>
          <a:bodyPr wrap="square" rtlCol="0">
            <a:spAutoFit/>
          </a:bodyPr>
          <a:lstStyle/>
          <a:p>
            <a:pPr algn="r"/>
            <a:r>
              <a:rPr lang="en-US" sz="1600" dirty="0">
                <a:solidFill>
                  <a:schemeClr val="bg1"/>
                </a:solidFill>
              </a:rPr>
              <a:t>Select Status:</a:t>
            </a:r>
          </a:p>
        </p:txBody>
      </p:sp>
      <p:sp>
        <p:nvSpPr>
          <p:cNvPr id="32" name="TextBox 31">
            <a:extLst>
              <a:ext uri="{FF2B5EF4-FFF2-40B4-BE49-F238E27FC236}">
                <a16:creationId xmlns:a16="http://schemas.microsoft.com/office/drawing/2014/main" id="{C138C199-3E9D-B9BE-12D6-178D6C23022D}"/>
              </a:ext>
            </a:extLst>
          </p:cNvPr>
          <p:cNvSpPr txBox="1"/>
          <p:nvPr/>
        </p:nvSpPr>
        <p:spPr>
          <a:xfrm>
            <a:off x="5896946" y="4397568"/>
            <a:ext cx="2808515" cy="276999"/>
          </a:xfrm>
          <a:prstGeom prst="rect">
            <a:avLst/>
          </a:prstGeom>
          <a:noFill/>
          <a:ln w="12700">
            <a:solidFill>
              <a:schemeClr val="bg1"/>
            </a:solidFill>
          </a:ln>
        </p:spPr>
        <p:txBody>
          <a:bodyPr wrap="square" rtlCol="0">
            <a:spAutoFit/>
          </a:bodyPr>
          <a:lstStyle/>
          <a:p>
            <a:pPr algn="ctr"/>
            <a:r>
              <a:rPr lang="en-US" sz="1200" b="1" dirty="0">
                <a:solidFill>
                  <a:schemeClr val="bg1"/>
                </a:solidFill>
              </a:rPr>
              <a:t>Active/ Inactive</a:t>
            </a:r>
          </a:p>
        </p:txBody>
      </p:sp>
      <p:sp>
        <p:nvSpPr>
          <p:cNvPr id="12" name="Rectangle: Rounded Corners 11">
            <a:extLst>
              <a:ext uri="{FF2B5EF4-FFF2-40B4-BE49-F238E27FC236}">
                <a16:creationId xmlns:a16="http://schemas.microsoft.com/office/drawing/2014/main" id="{62D330D9-7256-1C8A-F3EA-B22761758DDC}"/>
              </a:ext>
            </a:extLst>
          </p:cNvPr>
          <p:cNvSpPr/>
          <p:nvPr/>
        </p:nvSpPr>
        <p:spPr>
          <a:xfrm>
            <a:off x="6248637" y="4954555"/>
            <a:ext cx="917279" cy="26161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Cancel</a:t>
            </a:r>
          </a:p>
        </p:txBody>
      </p:sp>
      <p:sp>
        <p:nvSpPr>
          <p:cNvPr id="33" name="Rectangle: Rounded Corners 32">
            <a:extLst>
              <a:ext uri="{FF2B5EF4-FFF2-40B4-BE49-F238E27FC236}">
                <a16:creationId xmlns:a16="http://schemas.microsoft.com/office/drawing/2014/main" id="{82A69D88-692C-F74C-C549-E241B81FDB19}"/>
              </a:ext>
            </a:extLst>
          </p:cNvPr>
          <p:cNvSpPr/>
          <p:nvPr/>
        </p:nvSpPr>
        <p:spPr>
          <a:xfrm>
            <a:off x="7318316" y="4957665"/>
            <a:ext cx="917279" cy="2616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Submit</a:t>
            </a:r>
          </a:p>
        </p:txBody>
      </p:sp>
      <p:sp>
        <p:nvSpPr>
          <p:cNvPr id="13" name="TextBox 12">
            <a:extLst>
              <a:ext uri="{FF2B5EF4-FFF2-40B4-BE49-F238E27FC236}">
                <a16:creationId xmlns:a16="http://schemas.microsoft.com/office/drawing/2014/main" id="{8492291A-1924-D295-0239-1784BDF26C08}"/>
              </a:ext>
            </a:extLst>
          </p:cNvPr>
          <p:cNvSpPr txBox="1"/>
          <p:nvPr/>
        </p:nvSpPr>
        <p:spPr>
          <a:xfrm>
            <a:off x="9246638" y="4397568"/>
            <a:ext cx="2528596" cy="76944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1100" dirty="0">
                <a:solidFill>
                  <a:schemeClr val="bg1"/>
                </a:solidFill>
              </a:rPr>
              <a:t>N.B: When the status will be selected as Inactive, it won’t  be shown on the lab form. But it will still be available on the backend to edit any previous order.</a:t>
            </a:r>
          </a:p>
        </p:txBody>
      </p:sp>
      <p:cxnSp>
        <p:nvCxnSpPr>
          <p:cNvPr id="15" name="Straight Arrow Connector 14">
            <a:extLst>
              <a:ext uri="{FF2B5EF4-FFF2-40B4-BE49-F238E27FC236}">
                <a16:creationId xmlns:a16="http://schemas.microsoft.com/office/drawing/2014/main" id="{6D65EEE9-B9A3-FBBE-6C40-4A2116045ACA}"/>
              </a:ext>
            </a:extLst>
          </p:cNvPr>
          <p:cNvCxnSpPr/>
          <p:nvPr/>
        </p:nvCxnSpPr>
        <p:spPr>
          <a:xfrm flipH="1">
            <a:off x="8705461" y="4544008"/>
            <a:ext cx="541177"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4" name="Isosceles Triangle 33">
            <a:extLst>
              <a:ext uri="{FF2B5EF4-FFF2-40B4-BE49-F238E27FC236}">
                <a16:creationId xmlns:a16="http://schemas.microsoft.com/office/drawing/2014/main" id="{9B4CE895-D0B1-ED94-4A36-690239E76CD7}"/>
              </a:ext>
            </a:extLst>
          </p:cNvPr>
          <p:cNvSpPr/>
          <p:nvPr/>
        </p:nvSpPr>
        <p:spPr>
          <a:xfrm flipV="1">
            <a:off x="8416212" y="3055457"/>
            <a:ext cx="111968" cy="8896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DDAB8D39-6178-EC3B-3B6F-CD8CC5EB8218}"/>
              </a:ext>
            </a:extLst>
          </p:cNvPr>
          <p:cNvSpPr/>
          <p:nvPr/>
        </p:nvSpPr>
        <p:spPr>
          <a:xfrm flipV="1">
            <a:off x="8416212" y="2566143"/>
            <a:ext cx="111968" cy="8896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AB671520-4C5B-D14D-E7B7-45ACECC6CC5F}"/>
              </a:ext>
            </a:extLst>
          </p:cNvPr>
          <p:cNvSpPr/>
          <p:nvPr/>
        </p:nvSpPr>
        <p:spPr>
          <a:xfrm>
            <a:off x="8860976" y="2971961"/>
            <a:ext cx="1132110" cy="2470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Create Group</a:t>
            </a:r>
            <a:endParaRPr lang="en-US" b="1" dirty="0"/>
          </a:p>
        </p:txBody>
      </p:sp>
      <p:sp>
        <p:nvSpPr>
          <p:cNvPr id="37" name="Isosceles Triangle 36">
            <a:extLst>
              <a:ext uri="{FF2B5EF4-FFF2-40B4-BE49-F238E27FC236}">
                <a16:creationId xmlns:a16="http://schemas.microsoft.com/office/drawing/2014/main" id="{4E05DDE7-20F2-DA0F-24FC-5CDB2DDED2CB}"/>
              </a:ext>
            </a:extLst>
          </p:cNvPr>
          <p:cNvSpPr/>
          <p:nvPr/>
        </p:nvSpPr>
        <p:spPr>
          <a:xfrm flipV="1">
            <a:off x="8416212" y="4505573"/>
            <a:ext cx="111968" cy="8896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14231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3032322" y="256553"/>
            <a:ext cx="9159678" cy="1508760"/>
          </a:xfrm>
        </p:spPr>
        <p:txBody>
          <a:bodyPr>
            <a:normAutofit/>
          </a:bodyPr>
          <a:lstStyle/>
          <a:p>
            <a:pPr algn="ctr"/>
            <a:r>
              <a:rPr lang="en-US" dirty="0">
                <a:latin typeface="Bahnschrift Condensed" panose="020B0502040204020203" pitchFamily="34" charset="0"/>
              </a:rPr>
              <a:t>“Create group form” view</a:t>
            </a:r>
            <a:endParaRPr lang="en-US" sz="20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176982" y="2143432"/>
            <a:ext cx="2678358"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400" b="1" dirty="0">
                <a:solidFill>
                  <a:srgbClr val="FF0000"/>
                </a:solidFill>
              </a:rPr>
              <a:t>(Create Group Form)</a:t>
            </a:r>
          </a:p>
        </p:txBody>
      </p:sp>
      <p:sp>
        <p:nvSpPr>
          <p:cNvPr id="24" name="Arrow: Right 23">
            <a:extLst>
              <a:ext uri="{FF2B5EF4-FFF2-40B4-BE49-F238E27FC236}">
                <a16:creationId xmlns:a16="http://schemas.microsoft.com/office/drawing/2014/main" id="{03133E4B-9D0F-92A7-9693-2F1721D5B388}"/>
              </a:ext>
            </a:extLst>
          </p:cNvPr>
          <p:cNvSpPr/>
          <p:nvPr/>
        </p:nvSpPr>
        <p:spPr>
          <a:xfrm>
            <a:off x="2321251" y="2299206"/>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000A553-5754-BEFA-5340-F9D826565166}"/>
              </a:ext>
            </a:extLst>
          </p:cNvPr>
          <p:cNvSpPr/>
          <p:nvPr/>
        </p:nvSpPr>
        <p:spPr>
          <a:xfrm>
            <a:off x="3163078" y="1922106"/>
            <a:ext cx="8938726" cy="48332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 name="TextBox 9">
            <a:extLst>
              <a:ext uri="{FF2B5EF4-FFF2-40B4-BE49-F238E27FC236}">
                <a16:creationId xmlns:a16="http://schemas.microsoft.com/office/drawing/2014/main" id="{7E9E3BB1-0950-0660-D733-422998139BAF}"/>
              </a:ext>
            </a:extLst>
          </p:cNvPr>
          <p:cNvSpPr txBox="1"/>
          <p:nvPr/>
        </p:nvSpPr>
        <p:spPr>
          <a:xfrm>
            <a:off x="4422709" y="2416628"/>
            <a:ext cx="1474237" cy="338554"/>
          </a:xfrm>
          <a:prstGeom prst="rect">
            <a:avLst/>
          </a:prstGeom>
          <a:noFill/>
        </p:spPr>
        <p:txBody>
          <a:bodyPr wrap="square" rtlCol="0">
            <a:spAutoFit/>
          </a:bodyPr>
          <a:lstStyle/>
          <a:p>
            <a:pPr algn="r"/>
            <a:r>
              <a:rPr lang="en-US" sz="1600" dirty="0">
                <a:solidFill>
                  <a:schemeClr val="bg1"/>
                </a:solidFill>
              </a:rPr>
              <a:t>Group Name:</a:t>
            </a:r>
          </a:p>
        </p:txBody>
      </p:sp>
      <p:sp>
        <p:nvSpPr>
          <p:cNvPr id="11" name="TextBox 10">
            <a:extLst>
              <a:ext uri="{FF2B5EF4-FFF2-40B4-BE49-F238E27FC236}">
                <a16:creationId xmlns:a16="http://schemas.microsoft.com/office/drawing/2014/main" id="{EEDAC1AA-2253-2E43-1304-E0DF1B602740}"/>
              </a:ext>
            </a:extLst>
          </p:cNvPr>
          <p:cNvSpPr txBox="1"/>
          <p:nvPr/>
        </p:nvSpPr>
        <p:spPr>
          <a:xfrm>
            <a:off x="5896946" y="2483667"/>
            <a:ext cx="2808515" cy="253916"/>
          </a:xfrm>
          <a:prstGeom prst="rect">
            <a:avLst/>
          </a:prstGeom>
          <a:noFill/>
          <a:ln w="12700">
            <a:solidFill>
              <a:schemeClr val="bg1"/>
            </a:solidFill>
          </a:ln>
        </p:spPr>
        <p:txBody>
          <a:bodyPr wrap="square" rtlCol="0">
            <a:spAutoFit/>
          </a:bodyPr>
          <a:lstStyle/>
          <a:p>
            <a:pPr algn="ctr"/>
            <a:r>
              <a:rPr lang="en-US" sz="1050" b="1" dirty="0">
                <a:solidFill>
                  <a:schemeClr val="bg1"/>
                </a:solidFill>
              </a:rPr>
              <a:t>Enter a Name</a:t>
            </a:r>
          </a:p>
        </p:txBody>
      </p:sp>
      <p:sp>
        <p:nvSpPr>
          <p:cNvPr id="18" name="TextBox 17">
            <a:extLst>
              <a:ext uri="{FF2B5EF4-FFF2-40B4-BE49-F238E27FC236}">
                <a16:creationId xmlns:a16="http://schemas.microsoft.com/office/drawing/2014/main" id="{2D8E2A90-ABE4-9397-667D-ED9BE4162861}"/>
              </a:ext>
            </a:extLst>
          </p:cNvPr>
          <p:cNvSpPr txBox="1"/>
          <p:nvPr/>
        </p:nvSpPr>
        <p:spPr>
          <a:xfrm>
            <a:off x="4338735" y="2895591"/>
            <a:ext cx="1561319" cy="338554"/>
          </a:xfrm>
          <a:prstGeom prst="rect">
            <a:avLst/>
          </a:prstGeom>
          <a:noFill/>
        </p:spPr>
        <p:txBody>
          <a:bodyPr wrap="square" rtlCol="0">
            <a:spAutoFit/>
          </a:bodyPr>
          <a:lstStyle/>
          <a:p>
            <a:pPr algn="r"/>
            <a:r>
              <a:rPr lang="en-US" sz="1600" dirty="0">
                <a:solidFill>
                  <a:schemeClr val="bg1"/>
                </a:solidFill>
              </a:rPr>
              <a:t>Select Status:</a:t>
            </a:r>
          </a:p>
        </p:txBody>
      </p:sp>
      <p:sp>
        <p:nvSpPr>
          <p:cNvPr id="19" name="TextBox 18">
            <a:extLst>
              <a:ext uri="{FF2B5EF4-FFF2-40B4-BE49-F238E27FC236}">
                <a16:creationId xmlns:a16="http://schemas.microsoft.com/office/drawing/2014/main" id="{75F79171-65A7-5D0F-F421-740F4A9373BD}"/>
              </a:ext>
            </a:extLst>
          </p:cNvPr>
          <p:cNvSpPr txBox="1"/>
          <p:nvPr/>
        </p:nvSpPr>
        <p:spPr>
          <a:xfrm>
            <a:off x="5900054" y="2962630"/>
            <a:ext cx="2808515" cy="230832"/>
          </a:xfrm>
          <a:prstGeom prst="rect">
            <a:avLst/>
          </a:prstGeom>
          <a:noFill/>
          <a:ln w="12700">
            <a:solidFill>
              <a:schemeClr val="bg1"/>
            </a:solidFill>
          </a:ln>
        </p:spPr>
        <p:txBody>
          <a:bodyPr wrap="square" rtlCol="0">
            <a:spAutoFit/>
          </a:bodyPr>
          <a:lstStyle/>
          <a:p>
            <a:pPr algn="ctr"/>
            <a:r>
              <a:rPr lang="en-US" sz="900" b="1" dirty="0">
                <a:solidFill>
                  <a:schemeClr val="bg1"/>
                </a:solidFill>
              </a:rPr>
              <a:t>Active/ Inactive </a:t>
            </a:r>
          </a:p>
        </p:txBody>
      </p:sp>
      <p:sp>
        <p:nvSpPr>
          <p:cNvPr id="12" name="Rectangle: Rounded Corners 11">
            <a:extLst>
              <a:ext uri="{FF2B5EF4-FFF2-40B4-BE49-F238E27FC236}">
                <a16:creationId xmlns:a16="http://schemas.microsoft.com/office/drawing/2014/main" id="{62D330D9-7256-1C8A-F3EA-B22761758DDC}"/>
              </a:ext>
            </a:extLst>
          </p:cNvPr>
          <p:cNvSpPr/>
          <p:nvPr/>
        </p:nvSpPr>
        <p:spPr>
          <a:xfrm>
            <a:off x="6267299" y="3517632"/>
            <a:ext cx="917279" cy="26161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Cancel</a:t>
            </a:r>
          </a:p>
        </p:txBody>
      </p:sp>
      <p:sp>
        <p:nvSpPr>
          <p:cNvPr id="33" name="Rectangle: Rounded Corners 32">
            <a:extLst>
              <a:ext uri="{FF2B5EF4-FFF2-40B4-BE49-F238E27FC236}">
                <a16:creationId xmlns:a16="http://schemas.microsoft.com/office/drawing/2014/main" id="{82A69D88-692C-F74C-C549-E241B81FDB19}"/>
              </a:ext>
            </a:extLst>
          </p:cNvPr>
          <p:cNvSpPr/>
          <p:nvPr/>
        </p:nvSpPr>
        <p:spPr>
          <a:xfrm>
            <a:off x="7336978" y="3520742"/>
            <a:ext cx="917279" cy="26161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600" dirty="0"/>
              <a:t>Submit</a:t>
            </a:r>
          </a:p>
        </p:txBody>
      </p:sp>
      <p:sp>
        <p:nvSpPr>
          <p:cNvPr id="4" name="Isosceles Triangle 3">
            <a:extLst>
              <a:ext uri="{FF2B5EF4-FFF2-40B4-BE49-F238E27FC236}">
                <a16:creationId xmlns:a16="http://schemas.microsoft.com/office/drawing/2014/main" id="{8582B9BC-43F6-816A-4798-EA4D1AFBEC94}"/>
              </a:ext>
            </a:extLst>
          </p:cNvPr>
          <p:cNvSpPr/>
          <p:nvPr/>
        </p:nvSpPr>
        <p:spPr>
          <a:xfrm flipV="1">
            <a:off x="8406881" y="3027464"/>
            <a:ext cx="149290" cy="11695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684919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lstStyle/>
          <a:p>
            <a:pPr algn="ctr"/>
            <a:r>
              <a:rPr lang="en-US" dirty="0">
                <a:latin typeface="Bahnschrift Condensed" panose="020B0502040204020203" pitchFamily="34" charset="0"/>
              </a:rPr>
              <a:t>INDIVIDUAL PRICE</a:t>
            </a:r>
            <a:br>
              <a:rPr lang="en-US" dirty="0">
                <a:latin typeface="Bahnschrift Condensed" panose="020B0502040204020203" pitchFamily="34" charset="0"/>
              </a:rPr>
            </a:br>
            <a:r>
              <a:rPr lang="en-US" sz="2000" cap="none" dirty="0">
                <a:latin typeface="Bahnschrift Condensed" panose="020B0502040204020203" pitchFamily="34" charset="0"/>
              </a:rPr>
              <a:t>(General price create and edit)</a:t>
            </a:r>
            <a:endParaRPr lang="en-US" sz="20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400" b="1" dirty="0">
                <a:solidFill>
                  <a:srgbClr val="FF0000"/>
                </a:solidFill>
              </a:rPr>
              <a:t>(Individual Price)</a:t>
            </a:r>
            <a:endParaRPr lang="en-US" sz="1050" b="1" dirty="0">
              <a:solidFill>
                <a:srgbClr val="FF0000"/>
              </a:solidFill>
            </a:endParaRPr>
          </a:p>
        </p:txBody>
      </p:sp>
      <p:sp>
        <p:nvSpPr>
          <p:cNvPr id="24" name="Arrow: Right 23">
            <a:extLst>
              <a:ext uri="{FF2B5EF4-FFF2-40B4-BE49-F238E27FC236}">
                <a16:creationId xmlns:a16="http://schemas.microsoft.com/office/drawing/2014/main" id="{03133E4B-9D0F-92A7-9693-2F1721D5B388}"/>
              </a:ext>
            </a:extLst>
          </p:cNvPr>
          <p:cNvSpPr/>
          <p:nvPr/>
        </p:nvSpPr>
        <p:spPr>
          <a:xfrm>
            <a:off x="2256727" y="2346448"/>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A962D7-01C0-FB79-0A37-D1777BFB1A29}"/>
              </a:ext>
            </a:extLst>
          </p:cNvPr>
          <p:cNvPicPr>
            <a:picLocks noChangeAspect="1"/>
          </p:cNvPicPr>
          <p:nvPr/>
        </p:nvPicPr>
        <p:blipFill rotWithShape="1">
          <a:blip r:embed="rId6"/>
          <a:srcRect l="15691" t="18640" r="2043" b="10777"/>
          <a:stretch/>
        </p:blipFill>
        <p:spPr>
          <a:xfrm>
            <a:off x="3090794" y="1765313"/>
            <a:ext cx="9101206" cy="5092687"/>
          </a:xfrm>
          <a:prstGeom prst="rect">
            <a:avLst/>
          </a:prstGeom>
        </p:spPr>
      </p:pic>
    </p:spTree>
    <p:extLst>
      <p:ext uri="{BB962C8B-B14F-4D97-AF65-F5344CB8AC3E}">
        <p14:creationId xmlns:p14="http://schemas.microsoft.com/office/powerpoint/2010/main" val="3636656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Create client from admin panel</a:t>
            </a:r>
            <a:br>
              <a:rPr lang="en-US" dirty="0">
                <a:latin typeface="Bahnschrift Condensed" panose="020B0502040204020203" pitchFamily="34" charset="0"/>
              </a:rPr>
            </a:br>
            <a:r>
              <a:rPr lang="en-US" sz="1600" dirty="0">
                <a:latin typeface="Bahnschrift Condensed" panose="020B0502040204020203" pitchFamily="34" charset="0"/>
              </a:rPr>
              <a:t>(</a:t>
            </a:r>
            <a:r>
              <a:rPr lang="en-US" sz="1600" cap="none" dirty="0">
                <a:latin typeface="Bahnschrift Condensed" panose="020B0502040204020203" pitchFamily="34" charset="0"/>
              </a:rPr>
              <a:t>If doctor not interested to create his own account. Also doctor’s details need to be updated on the panel automatically</a:t>
            </a:r>
            <a:r>
              <a:rPr lang="en-US" sz="1600" dirty="0">
                <a:latin typeface="Bahnschrift Condensed" panose="020B0502040204020203" pitchFamily="34" charset="0"/>
              </a:rPr>
              <a:t>)</a:t>
            </a: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117990" y="2031396"/>
            <a:ext cx="2825766" cy="66466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400" b="1" dirty="0">
                <a:solidFill>
                  <a:srgbClr val="FF0000"/>
                </a:solidFill>
              </a:rPr>
              <a:t>(</a:t>
            </a:r>
            <a:r>
              <a:rPr lang="en-US" sz="1400" b="1" dirty="0">
                <a:solidFill>
                  <a:srgbClr val="FF0000"/>
                </a:solidFill>
                <a:latin typeface="Calibri Light" panose="020F0302020204030204" pitchFamily="34" charset="0"/>
                <a:ea typeface="Calibri" panose="020F0502020204030204" pitchFamily="34" charset="0"/>
                <a:cs typeface="Times New Roman" panose="02020603050405020304" pitchFamily="18" charset="0"/>
              </a:rPr>
              <a:t>Created Client List view</a:t>
            </a:r>
            <a:r>
              <a:rPr lang="en-US" sz="1400" b="1" dirty="0">
                <a:solidFill>
                  <a:srgbClr val="FF0000"/>
                </a:solidFill>
              </a:rPr>
              <a:t>)</a:t>
            </a:r>
            <a:endParaRPr lang="en-US" sz="900" b="1" dirty="0">
              <a:solidFill>
                <a:srgbClr val="FF0000"/>
              </a:solidFill>
            </a:endParaRPr>
          </a:p>
        </p:txBody>
      </p:sp>
      <p:sp>
        <p:nvSpPr>
          <p:cNvPr id="24" name="Arrow: Right 23">
            <a:extLst>
              <a:ext uri="{FF2B5EF4-FFF2-40B4-BE49-F238E27FC236}">
                <a16:creationId xmlns:a16="http://schemas.microsoft.com/office/drawing/2014/main" id="{03133E4B-9D0F-92A7-9693-2F1721D5B388}"/>
              </a:ext>
            </a:extLst>
          </p:cNvPr>
          <p:cNvSpPr/>
          <p:nvPr/>
        </p:nvSpPr>
        <p:spPr>
          <a:xfrm>
            <a:off x="2313422" y="2299206"/>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CCEA7EE-50FF-3313-CFB3-68432D685711}"/>
              </a:ext>
            </a:extLst>
          </p:cNvPr>
          <p:cNvPicPr>
            <a:picLocks noChangeAspect="1"/>
          </p:cNvPicPr>
          <p:nvPr/>
        </p:nvPicPr>
        <p:blipFill rotWithShape="1">
          <a:blip r:embed="rId6"/>
          <a:srcRect l="16452" t="11842" r="1401" b="4773"/>
          <a:stretch/>
        </p:blipFill>
        <p:spPr>
          <a:xfrm>
            <a:off x="3072650" y="1838131"/>
            <a:ext cx="9119350" cy="4999812"/>
          </a:xfrm>
          <a:prstGeom prst="rect">
            <a:avLst/>
          </a:prstGeom>
        </p:spPr>
      </p:pic>
    </p:spTree>
    <p:extLst>
      <p:ext uri="{BB962C8B-B14F-4D97-AF65-F5344CB8AC3E}">
        <p14:creationId xmlns:p14="http://schemas.microsoft.com/office/powerpoint/2010/main" val="263096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Create client from admin panel</a:t>
            </a:r>
            <a:br>
              <a:rPr lang="en-US" dirty="0">
                <a:latin typeface="Bahnschrift Condensed" panose="020B0502040204020203" pitchFamily="34" charset="0"/>
              </a:rPr>
            </a:br>
            <a:r>
              <a:rPr lang="en-US" sz="1600" dirty="0">
                <a:latin typeface="Bahnschrift Condensed" panose="020B0502040204020203" pitchFamily="34" charset="0"/>
              </a:rPr>
              <a:t>(</a:t>
            </a:r>
            <a:r>
              <a:rPr lang="en-US" sz="1600" cap="none" dirty="0">
                <a:latin typeface="Bahnschrift Condensed" panose="020B0502040204020203" pitchFamily="34" charset="0"/>
              </a:rPr>
              <a:t>Username and password will be automatically assigned and must be editable.</a:t>
            </a:r>
            <a:br>
              <a:rPr lang="en-US" sz="1600" cap="none" dirty="0">
                <a:latin typeface="Bahnschrift Condensed" panose="020B0502040204020203" pitchFamily="34" charset="0"/>
              </a:rPr>
            </a:br>
            <a:r>
              <a:rPr lang="en-US" sz="1600" cap="none" dirty="0">
                <a:latin typeface="Bahnschrift Condensed" panose="020B0502040204020203" pitchFamily="34" charset="0"/>
              </a:rPr>
              <a:t>Representative name option need to be listed on the dropdown menu.</a:t>
            </a:r>
            <a:r>
              <a:rPr lang="en-US" sz="1600" dirty="0">
                <a:latin typeface="Bahnschrift Condensed" panose="020B0502040204020203" pitchFamily="34" charset="0"/>
              </a:rPr>
              <a:t>)</a:t>
            </a: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962147"/>
            <a:ext cx="1150374"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37324" y="2143432"/>
            <a:ext cx="3072650"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400" b="1" dirty="0">
                <a:solidFill>
                  <a:srgbClr val="FF0000"/>
                </a:solidFill>
              </a:rPr>
              <a:t>(</a:t>
            </a:r>
            <a:r>
              <a:rPr lang="en-US" sz="1400" b="1" dirty="0">
                <a:solidFill>
                  <a:srgbClr val="FF0000"/>
                </a:solidFill>
                <a:latin typeface="Calibri Light" panose="020F0302020204030204" pitchFamily="34" charset="0"/>
                <a:ea typeface="Calibri" panose="020F0502020204030204" pitchFamily="34" charset="0"/>
                <a:cs typeface="Times New Roman" panose="02020603050405020304" pitchFamily="18" charset="0"/>
              </a:rPr>
              <a:t>Create Client and View - Client Form</a:t>
            </a:r>
            <a:r>
              <a:rPr lang="en-US" sz="1400" b="1" dirty="0">
                <a:solidFill>
                  <a:srgbClr val="FF0000"/>
                </a:solidFill>
              </a:rPr>
              <a:t>)</a:t>
            </a:r>
          </a:p>
        </p:txBody>
      </p:sp>
      <p:sp>
        <p:nvSpPr>
          <p:cNvPr id="24" name="Arrow: Right 23">
            <a:extLst>
              <a:ext uri="{FF2B5EF4-FFF2-40B4-BE49-F238E27FC236}">
                <a16:creationId xmlns:a16="http://schemas.microsoft.com/office/drawing/2014/main" id="{03133E4B-9D0F-92A7-9693-2F1721D5B388}"/>
              </a:ext>
            </a:extLst>
          </p:cNvPr>
          <p:cNvSpPr/>
          <p:nvPr/>
        </p:nvSpPr>
        <p:spPr>
          <a:xfrm>
            <a:off x="2176970" y="221058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3300836F-6C72-40AA-7176-DEDFF71E215D}"/>
              </a:ext>
            </a:extLst>
          </p:cNvPr>
          <p:cNvPicPr>
            <a:picLocks noChangeAspect="1"/>
          </p:cNvPicPr>
          <p:nvPr/>
        </p:nvPicPr>
        <p:blipFill rotWithShape="1">
          <a:blip r:embed="rId6"/>
          <a:srcRect l="28938" t="17143" r="23699" b="29252"/>
          <a:stretch/>
        </p:blipFill>
        <p:spPr>
          <a:xfrm>
            <a:off x="3072650" y="1765313"/>
            <a:ext cx="9118630" cy="5101600"/>
          </a:xfrm>
          <a:prstGeom prst="rect">
            <a:avLst/>
          </a:prstGeom>
        </p:spPr>
      </p:pic>
      <p:sp>
        <p:nvSpPr>
          <p:cNvPr id="7" name="Rectangle 6">
            <a:extLst>
              <a:ext uri="{FF2B5EF4-FFF2-40B4-BE49-F238E27FC236}">
                <a16:creationId xmlns:a16="http://schemas.microsoft.com/office/drawing/2014/main" id="{72A63A0B-4667-4A3B-08A9-C1AA5485181D}"/>
              </a:ext>
            </a:extLst>
          </p:cNvPr>
          <p:cNvSpPr/>
          <p:nvPr/>
        </p:nvSpPr>
        <p:spPr>
          <a:xfrm>
            <a:off x="5182972" y="4469363"/>
            <a:ext cx="4072995" cy="335902"/>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r>
              <a:rPr lang="en-US" sz="1600" dirty="0"/>
              <a:t>Representative Name or Dealings By</a:t>
            </a:r>
            <a:endParaRPr lang="en-US" dirty="0"/>
          </a:p>
        </p:txBody>
      </p:sp>
      <p:sp>
        <p:nvSpPr>
          <p:cNvPr id="8" name="Isosceles Triangle 7">
            <a:extLst>
              <a:ext uri="{FF2B5EF4-FFF2-40B4-BE49-F238E27FC236}">
                <a16:creationId xmlns:a16="http://schemas.microsoft.com/office/drawing/2014/main" id="{B2C9E2B1-F76B-6B94-BC56-DD2CFDE42702}"/>
              </a:ext>
            </a:extLst>
          </p:cNvPr>
          <p:cNvSpPr/>
          <p:nvPr/>
        </p:nvSpPr>
        <p:spPr>
          <a:xfrm flipV="1">
            <a:off x="8948057" y="4516013"/>
            <a:ext cx="158621" cy="223937"/>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Rectangle 2">
            <a:extLst>
              <a:ext uri="{FF2B5EF4-FFF2-40B4-BE49-F238E27FC236}">
                <a16:creationId xmlns:a16="http://schemas.microsoft.com/office/drawing/2014/main" id="{2424DCD9-42F4-4344-8B28-218FE3F05A2C}"/>
              </a:ext>
            </a:extLst>
          </p:cNvPr>
          <p:cNvSpPr/>
          <p:nvPr/>
        </p:nvSpPr>
        <p:spPr>
          <a:xfrm>
            <a:off x="5164310" y="6382139"/>
            <a:ext cx="4343583" cy="219308"/>
          </a:xfrm>
          <a:prstGeom prst="rect">
            <a:avLst/>
          </a:prstGeom>
          <a:ln w="19050">
            <a:solidFill>
              <a:schemeClr val="tx2"/>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500" dirty="0"/>
              <a:t>Select Status (Active/Inactive)</a:t>
            </a:r>
          </a:p>
        </p:txBody>
      </p:sp>
    </p:spTree>
    <p:extLst>
      <p:ext uri="{BB962C8B-B14F-4D97-AF65-F5344CB8AC3E}">
        <p14:creationId xmlns:p14="http://schemas.microsoft.com/office/powerpoint/2010/main" val="2959101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Create shipping</a:t>
            </a:r>
            <a:br>
              <a:rPr lang="en-US" dirty="0">
                <a:latin typeface="Bahnschrift Condensed" panose="020B0502040204020203" pitchFamily="34" charset="0"/>
              </a:rPr>
            </a:br>
            <a:r>
              <a:rPr lang="en-US" sz="1400" dirty="0">
                <a:latin typeface="Bahnschrift Condensed" panose="020B0502040204020203" pitchFamily="34" charset="0"/>
              </a:rPr>
              <a:t>(</a:t>
            </a:r>
            <a:r>
              <a:rPr lang="en-US" sz="1400" cap="none" dirty="0">
                <a:latin typeface="Bahnschrift Condensed" panose="020B0502040204020203" pitchFamily="34" charset="0"/>
              </a:rPr>
              <a:t>If doctor not interested to create his own shipping. Also doctor’s shipping details need to be updated on the panel automatically.</a:t>
            </a:r>
            <a:br>
              <a:rPr lang="en-US" sz="1400" cap="none" dirty="0">
                <a:latin typeface="Bahnschrift Condensed" panose="020B0502040204020203" pitchFamily="34" charset="0"/>
              </a:rPr>
            </a:br>
            <a:r>
              <a:rPr lang="en-US" sz="1400" cap="none" dirty="0">
                <a:latin typeface="Bahnschrift Condensed" panose="020B0502040204020203" pitchFamily="34" charset="0"/>
              </a:rPr>
              <a:t>Shown number of items on the report need to be “50” by default.</a:t>
            </a:r>
            <a:r>
              <a:rPr lang="en-US" sz="1400" dirty="0">
                <a:latin typeface="Bahnschrift Condensed" panose="020B0502040204020203" pitchFamily="34" charset="0"/>
              </a:rPr>
              <a:t>)</a:t>
            </a:r>
            <a:endParaRPr lang="en-US" sz="16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185974"/>
            <a:ext cx="3072650" cy="557891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0" y="3880804"/>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570259"/>
            <a:ext cx="1150374" cy="492285"/>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93306" y="2031464"/>
            <a:ext cx="2898307" cy="38145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600" dirty="0">
                <a:solidFill>
                  <a:srgbClr val="FF0000"/>
                </a:solidFill>
              </a:rPr>
              <a:t>(Shipping Create &amp; View)</a:t>
            </a:r>
          </a:p>
          <a:p>
            <a:pPr algn="ctr"/>
            <a:endParaRPr lang="en-US" b="1" dirty="0"/>
          </a:p>
        </p:txBody>
      </p:sp>
      <p:cxnSp>
        <p:nvCxnSpPr>
          <p:cNvPr id="5" name="Straight Connector 4">
            <a:extLst>
              <a:ext uri="{FF2B5EF4-FFF2-40B4-BE49-F238E27FC236}">
                <a16:creationId xmlns:a16="http://schemas.microsoft.com/office/drawing/2014/main" id="{DC60D9AF-F88E-A535-46DE-5A683CC6F2A7}"/>
              </a:ext>
            </a:extLst>
          </p:cNvPr>
          <p:cNvCxnSpPr/>
          <p:nvPr/>
        </p:nvCxnSpPr>
        <p:spPr>
          <a:xfrm>
            <a:off x="0" y="5732036"/>
            <a:ext cx="307265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F293B667-B0C8-9A41-6ACD-02D007CDE0AF}"/>
              </a:ext>
            </a:extLst>
          </p:cNvPr>
          <p:cNvSpPr/>
          <p:nvPr/>
        </p:nvSpPr>
        <p:spPr>
          <a:xfrm>
            <a:off x="170842" y="3256384"/>
            <a:ext cx="2702987" cy="33234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424091D-E760-5738-5726-98B16B081608}"/>
              </a:ext>
            </a:extLst>
          </p:cNvPr>
          <p:cNvSpPr/>
          <p:nvPr/>
        </p:nvSpPr>
        <p:spPr>
          <a:xfrm>
            <a:off x="0" y="5764884"/>
            <a:ext cx="3072650" cy="10730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dirty="0"/>
          </a:p>
        </p:txBody>
      </p:sp>
      <p:sp>
        <p:nvSpPr>
          <p:cNvPr id="25" name="Arrow: Right 24">
            <a:extLst>
              <a:ext uri="{FF2B5EF4-FFF2-40B4-BE49-F238E27FC236}">
                <a16:creationId xmlns:a16="http://schemas.microsoft.com/office/drawing/2014/main" id="{0E85B1D4-76D5-0EB2-2983-337D59E3B7B9}"/>
              </a:ext>
            </a:extLst>
          </p:cNvPr>
          <p:cNvSpPr/>
          <p:nvPr/>
        </p:nvSpPr>
        <p:spPr>
          <a:xfrm>
            <a:off x="2324087" y="1969641"/>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06B3C2F6-0764-811D-38E0-A63BB8777EEB}"/>
              </a:ext>
            </a:extLst>
          </p:cNvPr>
          <p:cNvPicPr>
            <a:picLocks noChangeAspect="1"/>
          </p:cNvPicPr>
          <p:nvPr/>
        </p:nvPicPr>
        <p:blipFill rotWithShape="1">
          <a:blip r:embed="rId6"/>
          <a:srcRect l="17392" t="12862" r="1451" b="5034"/>
          <a:stretch/>
        </p:blipFill>
        <p:spPr>
          <a:xfrm>
            <a:off x="3090795" y="1827563"/>
            <a:ext cx="9101206" cy="5022108"/>
          </a:xfrm>
          <a:prstGeom prst="rect">
            <a:avLst/>
          </a:prstGeom>
        </p:spPr>
      </p:pic>
    </p:spTree>
    <p:extLst>
      <p:ext uri="{BB962C8B-B14F-4D97-AF65-F5344CB8AC3E}">
        <p14:creationId xmlns:p14="http://schemas.microsoft.com/office/powerpoint/2010/main" val="362781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Create shipping form</a:t>
            </a:r>
            <a:br>
              <a:rPr lang="en-US" dirty="0">
                <a:latin typeface="Bahnschrift Condensed" panose="020B0502040204020203" pitchFamily="34" charset="0"/>
              </a:rPr>
            </a:br>
            <a:r>
              <a:rPr lang="en-US" sz="1400" cap="none" dirty="0">
                <a:latin typeface="Bahnschrift Condensed" panose="020B0502040204020203" pitchFamily="34" charset="0"/>
              </a:rPr>
              <a:t>(On The Form Client Name Will Be Selected From The Dropdown List, Office Name And Address Will Be Auto Filled Upon Selection)</a:t>
            </a:r>
            <a:endParaRPr lang="en-US" sz="16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185974"/>
            <a:ext cx="3072650" cy="557891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0" y="3880804"/>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57E249A0-6DBD-4453-B875-1ED61D001A00}"/>
              </a:ext>
            </a:extLst>
          </p:cNvPr>
          <p:cNvSpPr/>
          <p:nvPr/>
        </p:nvSpPr>
        <p:spPr>
          <a:xfrm>
            <a:off x="970210" y="2570259"/>
            <a:ext cx="1150374" cy="492285"/>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C55F1AE-9EDF-58EF-2F37-362DBEF34E86}"/>
              </a:ext>
            </a:extLst>
          </p:cNvPr>
          <p:cNvSpPr/>
          <p:nvPr/>
        </p:nvSpPr>
        <p:spPr>
          <a:xfrm>
            <a:off x="93306" y="2031464"/>
            <a:ext cx="2898307" cy="38145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p>
          <a:p>
            <a:pPr algn="ctr"/>
            <a:r>
              <a:rPr lang="en-US" sz="1600" dirty="0">
                <a:solidFill>
                  <a:srgbClr val="FF0000"/>
                </a:solidFill>
              </a:rPr>
              <a:t>(Shipping Form)</a:t>
            </a:r>
          </a:p>
          <a:p>
            <a:pPr algn="ctr"/>
            <a:endParaRPr lang="en-US" b="1" dirty="0"/>
          </a:p>
        </p:txBody>
      </p:sp>
      <p:cxnSp>
        <p:nvCxnSpPr>
          <p:cNvPr id="5" name="Straight Connector 4">
            <a:extLst>
              <a:ext uri="{FF2B5EF4-FFF2-40B4-BE49-F238E27FC236}">
                <a16:creationId xmlns:a16="http://schemas.microsoft.com/office/drawing/2014/main" id="{DC60D9AF-F88E-A535-46DE-5A683CC6F2A7}"/>
              </a:ext>
            </a:extLst>
          </p:cNvPr>
          <p:cNvCxnSpPr/>
          <p:nvPr/>
        </p:nvCxnSpPr>
        <p:spPr>
          <a:xfrm>
            <a:off x="0" y="5732036"/>
            <a:ext cx="3072650" cy="0"/>
          </a:xfrm>
          <a:prstGeom prst="line">
            <a:avLst/>
          </a:prstGeom>
          <a:ln w="38100"/>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F293B667-B0C8-9A41-6ACD-02D007CDE0AF}"/>
              </a:ext>
            </a:extLst>
          </p:cNvPr>
          <p:cNvSpPr/>
          <p:nvPr/>
        </p:nvSpPr>
        <p:spPr>
          <a:xfrm>
            <a:off x="170842" y="3256384"/>
            <a:ext cx="2702987" cy="33234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424091D-E760-5738-5726-98B16B081608}"/>
              </a:ext>
            </a:extLst>
          </p:cNvPr>
          <p:cNvSpPr/>
          <p:nvPr/>
        </p:nvSpPr>
        <p:spPr>
          <a:xfrm>
            <a:off x="0" y="5764884"/>
            <a:ext cx="3072650" cy="1073058"/>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dirty="0"/>
          </a:p>
        </p:txBody>
      </p:sp>
      <p:sp>
        <p:nvSpPr>
          <p:cNvPr id="25" name="Arrow: Right 24">
            <a:extLst>
              <a:ext uri="{FF2B5EF4-FFF2-40B4-BE49-F238E27FC236}">
                <a16:creationId xmlns:a16="http://schemas.microsoft.com/office/drawing/2014/main" id="{0E85B1D4-76D5-0EB2-2983-337D59E3B7B9}"/>
              </a:ext>
            </a:extLst>
          </p:cNvPr>
          <p:cNvSpPr/>
          <p:nvPr/>
        </p:nvSpPr>
        <p:spPr>
          <a:xfrm>
            <a:off x="2324087" y="1969641"/>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0547423-B41E-48E3-0E8D-AEEF8ACAEF35}"/>
              </a:ext>
            </a:extLst>
          </p:cNvPr>
          <p:cNvPicPr>
            <a:picLocks noChangeAspect="1"/>
          </p:cNvPicPr>
          <p:nvPr/>
        </p:nvPicPr>
        <p:blipFill rotWithShape="1">
          <a:blip r:embed="rId6"/>
          <a:srcRect l="15076" t="18651" r="2177" b="23022"/>
          <a:stretch/>
        </p:blipFill>
        <p:spPr>
          <a:xfrm>
            <a:off x="3106451" y="1816228"/>
            <a:ext cx="9065885" cy="5034537"/>
          </a:xfrm>
          <a:prstGeom prst="rect">
            <a:avLst/>
          </a:prstGeom>
        </p:spPr>
      </p:pic>
    </p:spTree>
    <p:extLst>
      <p:ext uri="{BB962C8B-B14F-4D97-AF65-F5344CB8AC3E}">
        <p14:creationId xmlns:p14="http://schemas.microsoft.com/office/powerpoint/2010/main" val="1788264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EE03-681E-8A46-4C8D-B25AD3AFA1AF}"/>
              </a:ext>
            </a:extLst>
          </p:cNvPr>
          <p:cNvSpPr>
            <a:spLocks noGrp="1"/>
          </p:cNvSpPr>
          <p:nvPr>
            <p:ph type="title"/>
          </p:nvPr>
        </p:nvSpPr>
        <p:spPr>
          <a:xfrm>
            <a:off x="1324092" y="284177"/>
            <a:ext cx="9784080" cy="1508760"/>
          </a:xfrm>
        </p:spPr>
        <p:txBody>
          <a:bodyPr>
            <a:normAutofit/>
          </a:bodyPr>
          <a:lstStyle/>
          <a:p>
            <a:pPr algn="ctr"/>
            <a:r>
              <a:rPr lang="en-US" sz="5400" b="1" dirty="0">
                <a:latin typeface="Bahnschrift Condensed" panose="020B0502040204020203" pitchFamily="34" charset="0"/>
              </a:rPr>
              <a:t>LAB dashboard </a:t>
            </a:r>
          </a:p>
        </p:txBody>
      </p:sp>
      <p:pic>
        <p:nvPicPr>
          <p:cNvPr id="5" name="Content Placeholder 4">
            <a:extLst>
              <a:ext uri="{FF2B5EF4-FFF2-40B4-BE49-F238E27FC236}">
                <a16:creationId xmlns:a16="http://schemas.microsoft.com/office/drawing/2014/main" id="{697BB88D-26E4-4F02-B167-D9E6A8AB825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838" b="14111"/>
          <a:stretch/>
        </p:blipFill>
        <p:spPr>
          <a:xfrm>
            <a:off x="860751" y="2155371"/>
            <a:ext cx="10710763" cy="392974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264735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Requested order</a:t>
            </a:r>
            <a:br>
              <a:rPr lang="en-US" dirty="0">
                <a:latin typeface="Bahnschrift Condensed" panose="020B0502040204020203" pitchFamily="34" charset="0"/>
              </a:rPr>
            </a:br>
            <a:r>
              <a:rPr lang="en-US" sz="1600" cap="none" dirty="0">
                <a:latin typeface="Bahnschrift Condensed" panose="020B0502040204020203" pitchFamily="34" charset="0"/>
              </a:rPr>
              <a:t>(Orders requested by the doctors from their panel can be viewed and edited if required.</a:t>
            </a:r>
            <a:br>
              <a:rPr lang="en-US" sz="1600" cap="none" dirty="0">
                <a:latin typeface="Bahnschrift Condensed" panose="020B0502040204020203" pitchFamily="34" charset="0"/>
              </a:rPr>
            </a:br>
            <a:r>
              <a:rPr lang="en-US" sz="1600" cap="none" dirty="0">
                <a:latin typeface="Bahnschrift Condensed" panose="020B0502040204020203" pitchFamily="34" charset="0"/>
              </a:rPr>
              <a:t>Option to cancel any order on doctor’s panel and on the backend need to be added, so that an Order can be cancelled if required.</a:t>
            </a:r>
            <a:br>
              <a:rPr lang="en-US" sz="1600" cap="none" dirty="0">
                <a:latin typeface="Bahnschrift Condensed" panose="020B0502040204020203" pitchFamily="34" charset="0"/>
              </a:rPr>
            </a:br>
            <a:r>
              <a:rPr lang="en-US" sz="1600" cap="none" dirty="0">
                <a:latin typeface="Bahnschrift Condensed" panose="020B0502040204020203" pitchFamily="34" charset="0"/>
              </a:rPr>
              <a:t>If the order is cancelled from the doctor or from the admin, the record will be kept but will not be listed in the work status list.)</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(Requested Order)</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6579308C-7258-E7DC-7789-81160C889E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7737" y="1808902"/>
            <a:ext cx="9124263" cy="5049098"/>
          </a:xfrm>
          <a:prstGeom prst="rect">
            <a:avLst/>
          </a:prstGeom>
        </p:spPr>
      </p:pic>
      <p:sp>
        <p:nvSpPr>
          <p:cNvPr id="3" name="Rectangle: Rounded Corners 2">
            <a:extLst>
              <a:ext uri="{FF2B5EF4-FFF2-40B4-BE49-F238E27FC236}">
                <a16:creationId xmlns:a16="http://schemas.microsoft.com/office/drawing/2014/main" id="{A82676F3-E643-3F18-E93D-E731B479FFCB}"/>
              </a:ext>
            </a:extLst>
          </p:cNvPr>
          <p:cNvSpPr/>
          <p:nvPr/>
        </p:nvSpPr>
        <p:spPr>
          <a:xfrm>
            <a:off x="11569958" y="3909526"/>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
        <p:nvSpPr>
          <p:cNvPr id="14" name="Rectangle: Rounded Corners 13">
            <a:extLst>
              <a:ext uri="{FF2B5EF4-FFF2-40B4-BE49-F238E27FC236}">
                <a16:creationId xmlns:a16="http://schemas.microsoft.com/office/drawing/2014/main" id="{463BAC26-1D6F-B30C-F71C-B3A1F0C5508E}"/>
              </a:ext>
            </a:extLst>
          </p:cNvPr>
          <p:cNvSpPr/>
          <p:nvPr/>
        </p:nvSpPr>
        <p:spPr>
          <a:xfrm>
            <a:off x="11569957" y="4441369"/>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
        <p:nvSpPr>
          <p:cNvPr id="15" name="Rectangle: Rounded Corners 14">
            <a:extLst>
              <a:ext uri="{FF2B5EF4-FFF2-40B4-BE49-F238E27FC236}">
                <a16:creationId xmlns:a16="http://schemas.microsoft.com/office/drawing/2014/main" id="{DDC730D8-BF31-5048-FFB0-5D8ACC6865C3}"/>
              </a:ext>
            </a:extLst>
          </p:cNvPr>
          <p:cNvSpPr/>
          <p:nvPr/>
        </p:nvSpPr>
        <p:spPr>
          <a:xfrm>
            <a:off x="11569956" y="4878878"/>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
        <p:nvSpPr>
          <p:cNvPr id="18" name="Rectangle: Rounded Corners 17">
            <a:extLst>
              <a:ext uri="{FF2B5EF4-FFF2-40B4-BE49-F238E27FC236}">
                <a16:creationId xmlns:a16="http://schemas.microsoft.com/office/drawing/2014/main" id="{C3329A41-04C7-6118-68F1-17F1C94D9AC2}"/>
              </a:ext>
            </a:extLst>
          </p:cNvPr>
          <p:cNvSpPr/>
          <p:nvPr/>
        </p:nvSpPr>
        <p:spPr>
          <a:xfrm>
            <a:off x="11569955" y="5375169"/>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
        <p:nvSpPr>
          <p:cNvPr id="19" name="Rectangle: Rounded Corners 18">
            <a:extLst>
              <a:ext uri="{FF2B5EF4-FFF2-40B4-BE49-F238E27FC236}">
                <a16:creationId xmlns:a16="http://schemas.microsoft.com/office/drawing/2014/main" id="{C89F069E-AAE4-FA3E-3AE7-EE939A8B5BC7}"/>
              </a:ext>
            </a:extLst>
          </p:cNvPr>
          <p:cNvSpPr/>
          <p:nvPr/>
        </p:nvSpPr>
        <p:spPr>
          <a:xfrm>
            <a:off x="11551290" y="5891766"/>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
        <p:nvSpPr>
          <p:cNvPr id="20" name="Rectangle: Rounded Corners 19">
            <a:extLst>
              <a:ext uri="{FF2B5EF4-FFF2-40B4-BE49-F238E27FC236}">
                <a16:creationId xmlns:a16="http://schemas.microsoft.com/office/drawing/2014/main" id="{028BB18B-C030-892B-20F9-12B3847023F5}"/>
              </a:ext>
            </a:extLst>
          </p:cNvPr>
          <p:cNvSpPr/>
          <p:nvPr/>
        </p:nvSpPr>
        <p:spPr>
          <a:xfrm>
            <a:off x="11569954" y="6399032"/>
            <a:ext cx="503853" cy="2052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Cancel</a:t>
            </a:r>
            <a:endParaRPr lang="en-US" sz="900" b="1" dirty="0"/>
          </a:p>
        </p:txBody>
      </p:sp>
    </p:spTree>
    <p:extLst>
      <p:ext uri="{BB962C8B-B14F-4D97-AF65-F5344CB8AC3E}">
        <p14:creationId xmlns:p14="http://schemas.microsoft.com/office/powerpoint/2010/main" val="2783148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58948" y="256553"/>
            <a:ext cx="9784080" cy="1508760"/>
          </a:xfrm>
        </p:spPr>
        <p:txBody>
          <a:bodyPr>
            <a:normAutofit/>
          </a:bodyPr>
          <a:lstStyle/>
          <a:p>
            <a:pPr algn="ctr"/>
            <a:r>
              <a:rPr lang="en-US" dirty="0">
                <a:latin typeface="Bahnschrift Condensed" panose="020B0502040204020203" pitchFamily="34" charset="0"/>
              </a:rPr>
              <a:t>print order</a:t>
            </a:r>
            <a:br>
              <a:rPr lang="en-US" dirty="0">
                <a:latin typeface="Bahnschrift Condensed" panose="020B0502040204020203" pitchFamily="34" charset="0"/>
              </a:rPr>
            </a:br>
            <a:r>
              <a:rPr lang="en-US" sz="1800" cap="none" dirty="0">
                <a:latin typeface="Bahnschrift Condensed" panose="020B0502040204020203" pitchFamily="34" charset="0"/>
              </a:rPr>
              <a:t>(Orders can be printed from the panel)</a:t>
            </a:r>
            <a:endParaRPr lang="en-US" sz="18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(Print Order)</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5ACA5249-ED5A-FAC9-22D7-F3114C8082AA}"/>
              </a:ext>
            </a:extLst>
          </p:cNvPr>
          <p:cNvPicPr>
            <a:picLocks noChangeAspect="1"/>
          </p:cNvPicPr>
          <p:nvPr/>
        </p:nvPicPr>
        <p:blipFill rotWithShape="1">
          <a:blip r:embed="rId6"/>
          <a:srcRect l="16610" t="8163" r="6374" b="5998"/>
          <a:stretch/>
        </p:blipFill>
        <p:spPr>
          <a:xfrm>
            <a:off x="3067736" y="1765313"/>
            <a:ext cx="9129627" cy="5104827"/>
          </a:xfrm>
          <a:prstGeom prst="rect">
            <a:avLst/>
          </a:prstGeom>
        </p:spPr>
      </p:pic>
    </p:spTree>
    <p:extLst>
      <p:ext uri="{BB962C8B-B14F-4D97-AF65-F5344CB8AC3E}">
        <p14:creationId xmlns:p14="http://schemas.microsoft.com/office/powerpoint/2010/main" val="2549528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19229"/>
            <a:ext cx="9784080" cy="1508760"/>
          </a:xfrm>
        </p:spPr>
        <p:txBody>
          <a:bodyPr>
            <a:normAutofit fontScale="90000"/>
          </a:bodyPr>
          <a:lstStyle/>
          <a:p>
            <a:pPr algn="ctr"/>
            <a:r>
              <a:rPr lang="en-US" dirty="0">
                <a:latin typeface="Bahnschrift Condensed" panose="020B0502040204020203" pitchFamily="34" charset="0"/>
              </a:rPr>
              <a:t>Create/or edit order Form -1</a:t>
            </a:r>
            <a:br>
              <a:rPr lang="en-US" dirty="0">
                <a:latin typeface="Bahnschrift Condensed" panose="020B0502040204020203" pitchFamily="34" charset="0"/>
              </a:rPr>
            </a:br>
            <a:r>
              <a:rPr lang="en-US" sz="2000" cap="none" dirty="0">
                <a:latin typeface="Bahnschrift Condensed" panose="020B0502040204020203" pitchFamily="34" charset="0"/>
              </a:rPr>
              <a:t>(Orders are placed by the doctors Orders can be created manually from the panel when required.</a:t>
            </a:r>
            <a:br>
              <a:rPr lang="en-US" sz="2000" cap="none" dirty="0">
                <a:latin typeface="Bahnschrift Condensed" panose="020B0502040204020203" pitchFamily="34" charset="0"/>
              </a:rPr>
            </a:br>
            <a:r>
              <a:rPr lang="en-US" sz="2000" cap="none" dirty="0">
                <a:latin typeface="Bahnschrift Condensed" panose="020B0502040204020203" pitchFamily="34" charset="0"/>
              </a:rPr>
              <a:t>Other than the Removable restoration “Multi selection Shade” and the panel on the Right will be visible. </a:t>
            </a:r>
            <a:br>
              <a:rPr lang="en-US" sz="2000" cap="none" dirty="0">
                <a:latin typeface="Bahnschrift Condensed" panose="020B0502040204020203" pitchFamily="34" charset="0"/>
              </a:rPr>
            </a:br>
            <a:r>
              <a:rPr lang="en-US" sz="2000" cap="none" dirty="0">
                <a:latin typeface="Bahnschrift Condensed" panose="020B0502040204020203" pitchFamily="34" charset="0"/>
              </a:rPr>
              <a:t>Multiple shade ratio will be indicated as the percentage as color shade matters for teeth.</a:t>
            </a:r>
            <a:br>
              <a:rPr lang="en-US" sz="2000" cap="none" dirty="0">
                <a:latin typeface="Bahnschrift Condensed" panose="020B0502040204020203" pitchFamily="34" charset="0"/>
              </a:rPr>
            </a:br>
            <a:r>
              <a:rPr lang="en-US" sz="2000" cap="none" dirty="0">
                <a:latin typeface="Bahnschrift Condensed" panose="020B0502040204020203" pitchFamily="34" charset="0"/>
              </a:rPr>
              <a:t>Smile pattern and promo code option will be manageable from the back-end)</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(Create Order Page-1)</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69C1C558-259D-0B0B-8C96-DF9A610D75E9}"/>
              </a:ext>
            </a:extLst>
          </p:cNvPr>
          <p:cNvPicPr>
            <a:picLocks noChangeAspect="1"/>
          </p:cNvPicPr>
          <p:nvPr/>
        </p:nvPicPr>
        <p:blipFill rotWithShape="1">
          <a:blip r:embed="rId6"/>
          <a:srcRect l="23855" t="31253" r="25202" b="20913"/>
          <a:stretch/>
        </p:blipFill>
        <p:spPr>
          <a:xfrm>
            <a:off x="3072649" y="1831703"/>
            <a:ext cx="9119351" cy="5019032"/>
          </a:xfrm>
          <a:prstGeom prst="rect">
            <a:avLst/>
          </a:prstGeom>
        </p:spPr>
      </p:pic>
    </p:spTree>
    <p:extLst>
      <p:ext uri="{BB962C8B-B14F-4D97-AF65-F5344CB8AC3E}">
        <p14:creationId xmlns:p14="http://schemas.microsoft.com/office/powerpoint/2010/main" val="3369031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19229"/>
            <a:ext cx="9784080" cy="1508760"/>
          </a:xfrm>
        </p:spPr>
        <p:txBody>
          <a:bodyPr>
            <a:normAutofit/>
          </a:bodyPr>
          <a:lstStyle/>
          <a:p>
            <a:pPr algn="ctr"/>
            <a:r>
              <a:rPr lang="en-US" sz="3600" dirty="0">
                <a:latin typeface="Bahnschrift Condensed" panose="020B0502040204020203" pitchFamily="34" charset="0"/>
              </a:rPr>
              <a:t>Create/or edit order page-2</a:t>
            </a:r>
            <a:br>
              <a:rPr lang="en-US" sz="3600" dirty="0">
                <a:latin typeface="Bahnschrift Condensed" panose="020B0502040204020203" pitchFamily="34" charset="0"/>
              </a:rPr>
            </a:br>
            <a:r>
              <a:rPr lang="en-US" sz="1600" cap="none" dirty="0">
                <a:latin typeface="Bahnschrift Condensed" panose="020B0502040204020203" pitchFamily="34" charset="0"/>
              </a:rPr>
              <a:t>(Size limit for the image: 4MB or the doctor can upload any size photo, but it will be automatically resized and </a:t>
            </a:r>
            <a:br>
              <a:rPr lang="en-US" sz="1600" cap="none" dirty="0">
                <a:latin typeface="Bahnschrift Condensed" panose="020B0502040204020203" pitchFamily="34" charset="0"/>
              </a:rPr>
            </a:br>
            <a:r>
              <a:rPr lang="en-US" sz="1600" cap="none" dirty="0">
                <a:latin typeface="Bahnschrift Condensed" panose="020B0502040204020203" pitchFamily="34" charset="0"/>
              </a:rPr>
              <a:t>compressed while saving on the system. The Rx section will be used as the follow-up instructions from the doctor.</a:t>
            </a:r>
            <a:br>
              <a:rPr lang="en-US" sz="1600" cap="none" dirty="0">
                <a:latin typeface="Bahnschrift Condensed" panose="020B0502040204020203" pitchFamily="34" charset="0"/>
              </a:rPr>
            </a:br>
            <a:r>
              <a:rPr lang="en-US" sz="1600" cap="none" dirty="0">
                <a:latin typeface="Bahnschrift Condensed" panose="020B0502040204020203" pitchFamily="34" charset="0"/>
              </a:rPr>
              <a:t>If doctor wants to cancel any instruction, he will be able to strike through the line, so that it can be viewed as history.)</a:t>
            </a:r>
            <a:endParaRPr lang="en-US" sz="20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(Create Order Page-2)</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BCB0D12-A64F-A324-F767-070124A4ACE9}"/>
              </a:ext>
            </a:extLst>
          </p:cNvPr>
          <p:cNvPicPr>
            <a:picLocks noChangeAspect="1"/>
          </p:cNvPicPr>
          <p:nvPr/>
        </p:nvPicPr>
        <p:blipFill rotWithShape="1">
          <a:blip r:embed="rId6"/>
          <a:srcRect l="23855" t="23537" r="25211" b="28436"/>
          <a:stretch/>
        </p:blipFill>
        <p:spPr>
          <a:xfrm>
            <a:off x="3072649" y="1826975"/>
            <a:ext cx="9119351" cy="5021694"/>
          </a:xfrm>
          <a:prstGeom prst="rect">
            <a:avLst/>
          </a:prstGeom>
        </p:spPr>
        <p:style>
          <a:lnRef idx="2">
            <a:schemeClr val="accent3"/>
          </a:lnRef>
          <a:fillRef idx="1">
            <a:schemeClr val="lt1"/>
          </a:fillRef>
          <a:effectRef idx="0">
            <a:schemeClr val="accent3"/>
          </a:effectRef>
          <a:fontRef idx="minor">
            <a:schemeClr val="dk1"/>
          </a:fontRef>
        </p:style>
      </p:pic>
      <p:sp>
        <p:nvSpPr>
          <p:cNvPr id="3" name="Rectangle: Rounded Corners 2">
            <a:extLst>
              <a:ext uri="{FF2B5EF4-FFF2-40B4-BE49-F238E27FC236}">
                <a16:creationId xmlns:a16="http://schemas.microsoft.com/office/drawing/2014/main" id="{46175D63-9565-19F6-F107-17B7FF12FB82}"/>
              </a:ext>
            </a:extLst>
          </p:cNvPr>
          <p:cNvSpPr/>
          <p:nvPr/>
        </p:nvSpPr>
        <p:spPr>
          <a:xfrm>
            <a:off x="3610947" y="3429000"/>
            <a:ext cx="8042988" cy="248716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endParaRPr lang="en-US" dirty="0"/>
          </a:p>
        </p:txBody>
      </p:sp>
      <p:sp>
        <p:nvSpPr>
          <p:cNvPr id="7" name="Rectangle 6">
            <a:extLst>
              <a:ext uri="{FF2B5EF4-FFF2-40B4-BE49-F238E27FC236}">
                <a16:creationId xmlns:a16="http://schemas.microsoft.com/office/drawing/2014/main" id="{B830C826-F9DE-6A95-1C58-3B8260B126B1}"/>
              </a:ext>
            </a:extLst>
          </p:cNvPr>
          <p:cNvSpPr/>
          <p:nvPr/>
        </p:nvSpPr>
        <p:spPr>
          <a:xfrm>
            <a:off x="3825549" y="3519336"/>
            <a:ext cx="3564294" cy="2660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dirty="0"/>
              <a:t>Date: [10-06-22]     Time: [10</a:t>
            </a:r>
            <a:r>
              <a:rPr lang="en-US" dirty="0">
                <a:sym typeface="Wingdings" panose="05000000000000000000" pitchFamily="2" charset="2"/>
              </a:rPr>
              <a:t>:00 am]</a:t>
            </a:r>
            <a:endParaRPr lang="en-US" dirty="0"/>
          </a:p>
        </p:txBody>
      </p:sp>
      <p:sp>
        <p:nvSpPr>
          <p:cNvPr id="18" name="Rectangle 17">
            <a:extLst>
              <a:ext uri="{FF2B5EF4-FFF2-40B4-BE49-F238E27FC236}">
                <a16:creationId xmlns:a16="http://schemas.microsoft.com/office/drawing/2014/main" id="{C44C2066-4C49-980E-435C-8E4724184E2F}"/>
              </a:ext>
            </a:extLst>
          </p:cNvPr>
          <p:cNvSpPr/>
          <p:nvPr/>
        </p:nvSpPr>
        <p:spPr>
          <a:xfrm>
            <a:off x="3825549" y="4581260"/>
            <a:ext cx="3564294" cy="26608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dirty="0"/>
              <a:t>Date: [11-06-22]     Time: [10</a:t>
            </a:r>
            <a:r>
              <a:rPr lang="en-US" dirty="0">
                <a:sym typeface="Wingdings" panose="05000000000000000000" pitchFamily="2" charset="2"/>
              </a:rPr>
              <a:t>:00 am]</a:t>
            </a:r>
            <a:endParaRPr lang="en-US" dirty="0"/>
          </a:p>
        </p:txBody>
      </p:sp>
      <p:sp>
        <p:nvSpPr>
          <p:cNvPr id="8" name="Rectangle 7">
            <a:extLst>
              <a:ext uri="{FF2B5EF4-FFF2-40B4-BE49-F238E27FC236}">
                <a16:creationId xmlns:a16="http://schemas.microsoft.com/office/drawing/2014/main" id="{E556ED9A-A9BF-3974-B9B8-57D5CABDA21D}"/>
              </a:ext>
            </a:extLst>
          </p:cNvPr>
          <p:cNvSpPr/>
          <p:nvPr/>
        </p:nvSpPr>
        <p:spPr>
          <a:xfrm>
            <a:off x="3825549" y="3881535"/>
            <a:ext cx="6528361" cy="6158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dirty="0"/>
              <a:t>Please make the ……….</a:t>
            </a:r>
          </a:p>
          <a:p>
            <a:pPr algn="just"/>
            <a:r>
              <a:rPr lang="en-US" dirty="0">
                <a:solidFill>
                  <a:srgbClr val="FF0000"/>
                </a:solidFill>
              </a:rPr>
              <a:t>Can be strike trough…..</a:t>
            </a:r>
          </a:p>
        </p:txBody>
      </p:sp>
      <p:sp>
        <p:nvSpPr>
          <p:cNvPr id="20" name="Rectangle 19">
            <a:extLst>
              <a:ext uri="{FF2B5EF4-FFF2-40B4-BE49-F238E27FC236}">
                <a16:creationId xmlns:a16="http://schemas.microsoft.com/office/drawing/2014/main" id="{CF57DD53-B865-DE96-9FA9-60B6E2CFF0B8}"/>
              </a:ext>
            </a:extLst>
          </p:cNvPr>
          <p:cNvSpPr/>
          <p:nvPr/>
        </p:nvSpPr>
        <p:spPr>
          <a:xfrm>
            <a:off x="3825548" y="4975047"/>
            <a:ext cx="6528361" cy="6158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US" dirty="0"/>
              <a:t>Please make the ……….</a:t>
            </a:r>
          </a:p>
        </p:txBody>
      </p:sp>
      <p:sp>
        <p:nvSpPr>
          <p:cNvPr id="9" name="Rectangle 8">
            <a:extLst>
              <a:ext uri="{FF2B5EF4-FFF2-40B4-BE49-F238E27FC236}">
                <a16:creationId xmlns:a16="http://schemas.microsoft.com/office/drawing/2014/main" id="{C75E8F25-6B2D-54D8-7262-E9EBE2AEEA81}"/>
              </a:ext>
            </a:extLst>
          </p:cNvPr>
          <p:cNvSpPr/>
          <p:nvPr/>
        </p:nvSpPr>
        <p:spPr>
          <a:xfrm>
            <a:off x="11551300" y="2124770"/>
            <a:ext cx="597159" cy="56012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b="1" dirty="0"/>
              <a:t>Prom</a:t>
            </a:r>
          </a:p>
          <a:p>
            <a:pPr algn="ctr"/>
            <a:r>
              <a:rPr lang="en-US" sz="1100" b="1" dirty="0"/>
              <a:t>Code</a:t>
            </a:r>
          </a:p>
        </p:txBody>
      </p:sp>
      <p:cxnSp>
        <p:nvCxnSpPr>
          <p:cNvPr id="10" name="Straight Connector 9">
            <a:extLst>
              <a:ext uri="{FF2B5EF4-FFF2-40B4-BE49-F238E27FC236}">
                <a16:creationId xmlns:a16="http://schemas.microsoft.com/office/drawing/2014/main" id="{3234CD70-357C-D4C9-63A5-9B322F2DA855}"/>
              </a:ext>
            </a:extLst>
          </p:cNvPr>
          <p:cNvCxnSpPr/>
          <p:nvPr/>
        </p:nvCxnSpPr>
        <p:spPr>
          <a:xfrm>
            <a:off x="3900196" y="4345541"/>
            <a:ext cx="2286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37118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19229"/>
            <a:ext cx="9784080" cy="1168609"/>
          </a:xfrm>
        </p:spPr>
        <p:txBody>
          <a:bodyPr>
            <a:normAutofit fontScale="90000"/>
          </a:bodyPr>
          <a:lstStyle/>
          <a:p>
            <a:pPr algn="ctr"/>
            <a:r>
              <a:rPr lang="en-US" dirty="0">
                <a:latin typeface="Bahnschrift Condensed" panose="020B0502040204020203" pitchFamily="34" charset="0"/>
              </a:rPr>
              <a:t>Create/or edit order Form -1</a:t>
            </a:r>
            <a:br>
              <a:rPr lang="en-US" dirty="0">
                <a:latin typeface="Bahnschrift Condensed" panose="020B0502040204020203" pitchFamily="34" charset="0"/>
              </a:rPr>
            </a:br>
            <a:r>
              <a:rPr lang="en-US" sz="2000" cap="none" dirty="0">
                <a:latin typeface="Bahnschrift Condensed" panose="020B0502040204020203" pitchFamily="34" charset="0"/>
              </a:rPr>
              <a:t>(Orders are placed by the doctors Orders can be created manually from the panel when required.</a:t>
            </a:r>
            <a:br>
              <a:rPr lang="en-US" sz="2000" cap="none" dirty="0">
                <a:latin typeface="Bahnschrift Condensed" panose="020B0502040204020203" pitchFamily="34" charset="0"/>
              </a:rPr>
            </a:br>
            <a:r>
              <a:rPr lang="en-US" sz="2000" cap="none" dirty="0">
                <a:latin typeface="Bahnschrift Condensed" panose="020B0502040204020203" pitchFamily="34" charset="0"/>
              </a:rPr>
              <a:t>For Removable restoration “Multi selection Shade” and the panel on the Right will be invisible.</a:t>
            </a:r>
            <a:br>
              <a:rPr lang="en-US" sz="2000" cap="none" dirty="0">
                <a:latin typeface="Bahnschrift Condensed" panose="020B0502040204020203" pitchFamily="34" charset="0"/>
              </a:rPr>
            </a:br>
            <a:r>
              <a:rPr lang="en-US" sz="2000" cap="none" dirty="0">
                <a:latin typeface="Bahnschrift Condensed" panose="020B0502040204020203" pitchFamily="34" charset="0"/>
              </a:rPr>
              <a:t>Smile pattern and promo code option will be manageable from the back-end)</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(Create Order Page-1)</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BED989E5-5FE1-8F5D-F88F-27579FDA5D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7737" y="1581140"/>
            <a:ext cx="9124263" cy="5276860"/>
          </a:xfrm>
          <a:prstGeom prst="rect">
            <a:avLst/>
          </a:prstGeom>
        </p:spPr>
      </p:pic>
    </p:spTree>
    <p:extLst>
      <p:ext uri="{BB962C8B-B14F-4D97-AF65-F5344CB8AC3E}">
        <p14:creationId xmlns:p14="http://schemas.microsoft.com/office/powerpoint/2010/main" val="3256377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19229"/>
            <a:ext cx="9784080" cy="1168609"/>
          </a:xfrm>
        </p:spPr>
        <p:txBody>
          <a:bodyPr>
            <a:normAutofit fontScale="90000"/>
          </a:bodyPr>
          <a:lstStyle/>
          <a:p>
            <a:pPr algn="ctr"/>
            <a:r>
              <a:rPr lang="en-US" dirty="0">
                <a:latin typeface="Bahnschrift Condensed" panose="020B0502040204020203" pitchFamily="34" charset="0"/>
              </a:rPr>
              <a:t>Create/or edit order Form -2</a:t>
            </a:r>
            <a:br>
              <a:rPr lang="en-US" dirty="0">
                <a:latin typeface="Bahnschrift Condensed" panose="020B0502040204020203" pitchFamily="34" charset="0"/>
              </a:rPr>
            </a:br>
            <a:r>
              <a:rPr lang="en-US" sz="2000" cap="none" dirty="0">
                <a:latin typeface="Bahnschrift Condensed" panose="020B0502040204020203" pitchFamily="34" charset="0"/>
              </a:rPr>
              <a:t>(Orders are placed by the doctors Orders can be created manually from the panel when required.</a:t>
            </a:r>
            <a:br>
              <a:rPr lang="en-US" sz="2000" cap="none" dirty="0">
                <a:latin typeface="Bahnschrift Condensed" panose="020B0502040204020203" pitchFamily="34" charset="0"/>
              </a:rPr>
            </a:br>
            <a:r>
              <a:rPr lang="en-US" sz="2000" cap="none" dirty="0">
                <a:latin typeface="Bahnschrift Condensed" panose="020B0502040204020203" pitchFamily="34" charset="0"/>
              </a:rPr>
              <a:t>For Removable restoration “Multi selection Shade” and the panel on the Right will be invisible.</a:t>
            </a:r>
            <a:br>
              <a:rPr lang="en-US" sz="2000" cap="none" dirty="0">
                <a:latin typeface="Bahnschrift Condensed" panose="020B0502040204020203" pitchFamily="34" charset="0"/>
              </a:rPr>
            </a:br>
            <a:r>
              <a:rPr lang="en-US" sz="2000" cap="none" dirty="0">
                <a:latin typeface="Bahnschrift Condensed" panose="020B0502040204020203" pitchFamily="34" charset="0"/>
              </a:rPr>
              <a:t>Smile pattern and promo code option will be manageable from the back-end)</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(Create Order Page-1)</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8BFBF7A-04F9-B8B8-B6B4-FA99631134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6736" y="1465266"/>
            <a:ext cx="9125263" cy="5392734"/>
          </a:xfrm>
          <a:prstGeom prst="rect">
            <a:avLst/>
          </a:prstGeom>
        </p:spPr>
      </p:pic>
    </p:spTree>
    <p:extLst>
      <p:ext uri="{BB962C8B-B14F-4D97-AF65-F5344CB8AC3E}">
        <p14:creationId xmlns:p14="http://schemas.microsoft.com/office/powerpoint/2010/main" val="650829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view order</a:t>
            </a:r>
            <a:br>
              <a:rPr lang="en-US" dirty="0">
                <a:latin typeface="Bahnschrift Condensed" panose="020B0502040204020203" pitchFamily="34" charset="0"/>
              </a:rPr>
            </a:br>
            <a:r>
              <a:rPr lang="en-US" sz="1600" cap="none" dirty="0">
                <a:latin typeface="Bahnschrift Condensed" panose="020B0502040204020203" pitchFamily="34" charset="0"/>
              </a:rPr>
              <a:t>(Generate order report for a certain duration on date to date and by client,</a:t>
            </a:r>
            <a:br>
              <a:rPr lang="en-US" sz="1600" cap="none" dirty="0">
                <a:latin typeface="Bahnschrift Condensed" panose="020B0502040204020203" pitchFamily="34" charset="0"/>
              </a:rPr>
            </a:br>
            <a:r>
              <a:rPr lang="en-US" sz="1600" cap="none" dirty="0">
                <a:latin typeface="Bahnschrift Condensed" panose="020B0502040204020203" pitchFamily="34" charset="0"/>
              </a:rPr>
              <a:t>must start with </a:t>
            </a:r>
            <a:r>
              <a:rPr lang="en-US" sz="1600" b="1" cap="none" dirty="0">
                <a:latin typeface="Bahnschrift Condensed" panose="020B0502040204020203" pitchFamily="34" charset="0"/>
              </a:rPr>
              <a:t>All Client</a:t>
            </a:r>
            <a:r>
              <a:rPr lang="en-US" sz="1600" cap="none" dirty="0">
                <a:latin typeface="Bahnschrift Condensed" panose="020B0502040204020203" pitchFamily="34" charset="0"/>
              </a:rPr>
              <a:t> Option. Representative will be able to see only his own client’s data. Technician will be</a:t>
            </a:r>
            <a:br>
              <a:rPr lang="en-US" sz="1600" cap="none" dirty="0">
                <a:latin typeface="Bahnschrift Condensed" panose="020B0502040204020203" pitchFamily="34" charset="0"/>
              </a:rPr>
            </a:br>
            <a:r>
              <a:rPr lang="en-US" sz="1600" cap="none" dirty="0">
                <a:latin typeface="Bahnschrift Condensed" panose="020B0502040204020203" pitchFamily="34" charset="0"/>
              </a:rPr>
              <a:t>able to see only his own works. Management will be able to see all. Dedicated Label Printing Button need to be added. The label print</a:t>
            </a:r>
            <a:br>
              <a:rPr lang="en-US" sz="1600" cap="none" dirty="0">
                <a:latin typeface="Bahnschrift Condensed" panose="020B0502040204020203" pitchFamily="34" charset="0"/>
              </a:rPr>
            </a:br>
            <a:r>
              <a:rPr lang="en-US" sz="1600" cap="none" dirty="0">
                <a:latin typeface="Bahnschrift Condensed" panose="020B0502040204020203" pitchFamily="34" charset="0"/>
              </a:rPr>
              <a:t>will be done for a client, but the printing instruction will be placed from Order list)</a:t>
            </a:r>
            <a:endParaRPr lang="en-US" sz="16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a:p>
            <a:pPr algn="ctr"/>
            <a:r>
              <a:rPr lang="en-US" sz="2000" dirty="0">
                <a:solidFill>
                  <a:srgbClr val="FF0000"/>
                </a:solidFill>
                <a:latin typeface="Calibri" panose="020F0502020204030204" pitchFamily="34" charset="0"/>
                <a:ea typeface="Calibri" panose="020F0502020204030204" pitchFamily="34" charset="0"/>
                <a:cs typeface="Times New Roman" panose="02020603050405020304" pitchFamily="18" charset="0"/>
              </a:rPr>
              <a:t>(View Order)</a:t>
            </a: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0047" y="315235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B668F1A4-0176-C0D2-95E2-5A47C81331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67737" y="1793304"/>
            <a:ext cx="9124263" cy="5092687"/>
          </a:xfrm>
          <a:prstGeom prst="rect">
            <a:avLst/>
          </a:prstGeom>
        </p:spPr>
      </p:pic>
      <p:sp>
        <p:nvSpPr>
          <p:cNvPr id="12" name="Rectangle 11">
            <a:extLst>
              <a:ext uri="{FF2B5EF4-FFF2-40B4-BE49-F238E27FC236}">
                <a16:creationId xmlns:a16="http://schemas.microsoft.com/office/drawing/2014/main" id="{6EC7885B-3CBB-BD7A-91FE-231CF26F5904}"/>
              </a:ext>
            </a:extLst>
          </p:cNvPr>
          <p:cNvSpPr/>
          <p:nvPr/>
        </p:nvSpPr>
        <p:spPr>
          <a:xfrm flipH="1">
            <a:off x="3137394" y="2513348"/>
            <a:ext cx="7518165" cy="448799"/>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F70B3B8-B40D-5222-ED65-9D8B55688D13}"/>
              </a:ext>
            </a:extLst>
          </p:cNvPr>
          <p:cNvSpPr/>
          <p:nvPr/>
        </p:nvSpPr>
        <p:spPr>
          <a:xfrm>
            <a:off x="3137394" y="2513348"/>
            <a:ext cx="1929128" cy="448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Select Client (Select All Client | Individual Client)</a:t>
            </a:r>
          </a:p>
        </p:txBody>
      </p:sp>
      <p:sp>
        <p:nvSpPr>
          <p:cNvPr id="28" name="Rectangle: Rounded Corners 27">
            <a:extLst>
              <a:ext uri="{FF2B5EF4-FFF2-40B4-BE49-F238E27FC236}">
                <a16:creationId xmlns:a16="http://schemas.microsoft.com/office/drawing/2014/main" id="{8A753715-370E-E1F1-95CB-1EA56388BDD1}"/>
              </a:ext>
            </a:extLst>
          </p:cNvPr>
          <p:cNvSpPr/>
          <p:nvPr/>
        </p:nvSpPr>
        <p:spPr>
          <a:xfrm>
            <a:off x="5393973" y="2511024"/>
            <a:ext cx="1929128" cy="448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From Date</a:t>
            </a:r>
          </a:p>
        </p:txBody>
      </p:sp>
      <p:sp>
        <p:nvSpPr>
          <p:cNvPr id="29" name="Rectangle: Rounded Corners 28">
            <a:extLst>
              <a:ext uri="{FF2B5EF4-FFF2-40B4-BE49-F238E27FC236}">
                <a16:creationId xmlns:a16="http://schemas.microsoft.com/office/drawing/2014/main" id="{ED186579-9B11-3FA3-3678-4C3307A31621}"/>
              </a:ext>
            </a:extLst>
          </p:cNvPr>
          <p:cNvSpPr/>
          <p:nvPr/>
        </p:nvSpPr>
        <p:spPr>
          <a:xfrm>
            <a:off x="7482420" y="2512578"/>
            <a:ext cx="1929128" cy="44879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To Date</a:t>
            </a:r>
          </a:p>
        </p:txBody>
      </p:sp>
      <p:pic>
        <p:nvPicPr>
          <p:cNvPr id="4" name="Graphic 3" descr="Eye">
            <a:extLst>
              <a:ext uri="{FF2B5EF4-FFF2-40B4-BE49-F238E27FC236}">
                <a16:creationId xmlns:a16="http://schemas.microsoft.com/office/drawing/2014/main" id="{1C93231B-3E6F-71E6-0D85-B9114564E56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4890" y="3405034"/>
            <a:ext cx="251927" cy="251927"/>
          </a:xfrm>
          <a:prstGeom prst="rect">
            <a:avLst/>
          </a:prstGeom>
        </p:spPr>
      </p:pic>
      <p:pic>
        <p:nvPicPr>
          <p:cNvPr id="19" name="Graphic 18" descr="Eye">
            <a:extLst>
              <a:ext uri="{FF2B5EF4-FFF2-40B4-BE49-F238E27FC236}">
                <a16:creationId xmlns:a16="http://schemas.microsoft.com/office/drawing/2014/main" id="{B9D7C3B3-D39D-9984-5DB5-8ABE67F8561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5559" y="3732342"/>
            <a:ext cx="251927" cy="251927"/>
          </a:xfrm>
          <a:prstGeom prst="rect">
            <a:avLst/>
          </a:prstGeom>
        </p:spPr>
      </p:pic>
      <p:pic>
        <p:nvPicPr>
          <p:cNvPr id="20" name="Graphic 19" descr="Eye">
            <a:extLst>
              <a:ext uri="{FF2B5EF4-FFF2-40B4-BE49-F238E27FC236}">
                <a16:creationId xmlns:a16="http://schemas.microsoft.com/office/drawing/2014/main" id="{A25D93D7-98C0-49AA-02E9-EA709B1240F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5558" y="4059824"/>
            <a:ext cx="251927" cy="251927"/>
          </a:xfrm>
          <a:prstGeom prst="rect">
            <a:avLst/>
          </a:prstGeom>
        </p:spPr>
      </p:pic>
      <p:pic>
        <p:nvPicPr>
          <p:cNvPr id="30" name="Graphic 29" descr="Eye">
            <a:extLst>
              <a:ext uri="{FF2B5EF4-FFF2-40B4-BE49-F238E27FC236}">
                <a16:creationId xmlns:a16="http://schemas.microsoft.com/office/drawing/2014/main" id="{E6D7E314-88F6-F4C6-B4D6-14D755F0CD4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6196" y="4455244"/>
            <a:ext cx="251927" cy="251927"/>
          </a:xfrm>
          <a:prstGeom prst="rect">
            <a:avLst/>
          </a:prstGeom>
        </p:spPr>
      </p:pic>
      <p:pic>
        <p:nvPicPr>
          <p:cNvPr id="31" name="Graphic 30" descr="Eye">
            <a:extLst>
              <a:ext uri="{FF2B5EF4-FFF2-40B4-BE49-F238E27FC236}">
                <a16:creationId xmlns:a16="http://schemas.microsoft.com/office/drawing/2014/main" id="{A7A7AE53-5F29-0763-2566-EBE2DD0075E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4890" y="4821287"/>
            <a:ext cx="251927" cy="251927"/>
          </a:xfrm>
          <a:prstGeom prst="rect">
            <a:avLst/>
          </a:prstGeom>
        </p:spPr>
      </p:pic>
      <p:pic>
        <p:nvPicPr>
          <p:cNvPr id="32" name="Graphic 31" descr="Eye">
            <a:extLst>
              <a:ext uri="{FF2B5EF4-FFF2-40B4-BE49-F238E27FC236}">
                <a16:creationId xmlns:a16="http://schemas.microsoft.com/office/drawing/2014/main" id="{CDBC4A01-FAF5-29F0-337F-80C9E457694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7787" y="5135237"/>
            <a:ext cx="251927" cy="251927"/>
          </a:xfrm>
          <a:prstGeom prst="rect">
            <a:avLst/>
          </a:prstGeom>
        </p:spPr>
      </p:pic>
      <p:pic>
        <p:nvPicPr>
          <p:cNvPr id="33" name="Graphic 32" descr="Eye">
            <a:extLst>
              <a:ext uri="{FF2B5EF4-FFF2-40B4-BE49-F238E27FC236}">
                <a16:creationId xmlns:a16="http://schemas.microsoft.com/office/drawing/2014/main" id="{B5DE5A2C-F698-C7AD-D6CE-60CB0DCC020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5557" y="5473600"/>
            <a:ext cx="251927" cy="251927"/>
          </a:xfrm>
          <a:prstGeom prst="rect">
            <a:avLst/>
          </a:prstGeom>
        </p:spPr>
      </p:pic>
      <p:pic>
        <p:nvPicPr>
          <p:cNvPr id="34" name="Graphic 33" descr="Eye">
            <a:extLst>
              <a:ext uri="{FF2B5EF4-FFF2-40B4-BE49-F238E27FC236}">
                <a16:creationId xmlns:a16="http://schemas.microsoft.com/office/drawing/2014/main" id="{21F26943-2EA8-D7E8-1476-A67D7009478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5557" y="5830268"/>
            <a:ext cx="251927" cy="251927"/>
          </a:xfrm>
          <a:prstGeom prst="rect">
            <a:avLst/>
          </a:prstGeom>
        </p:spPr>
      </p:pic>
      <p:pic>
        <p:nvPicPr>
          <p:cNvPr id="35" name="Graphic 34" descr="Eye">
            <a:extLst>
              <a:ext uri="{FF2B5EF4-FFF2-40B4-BE49-F238E27FC236}">
                <a16:creationId xmlns:a16="http://schemas.microsoft.com/office/drawing/2014/main" id="{62E5BFE5-1B2A-E614-BD17-4B00AAE5FC6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66196" y="6156425"/>
            <a:ext cx="251927" cy="251927"/>
          </a:xfrm>
          <a:prstGeom prst="rect">
            <a:avLst/>
          </a:prstGeom>
        </p:spPr>
      </p:pic>
      <p:pic>
        <p:nvPicPr>
          <p:cNvPr id="36" name="Graphic 35" descr="Eye">
            <a:extLst>
              <a:ext uri="{FF2B5EF4-FFF2-40B4-BE49-F238E27FC236}">
                <a16:creationId xmlns:a16="http://schemas.microsoft.com/office/drawing/2014/main" id="{13234AE5-4DF7-9A18-654F-B79C51919A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58454" y="6523148"/>
            <a:ext cx="251927" cy="251927"/>
          </a:xfrm>
          <a:prstGeom prst="rect">
            <a:avLst/>
          </a:prstGeom>
        </p:spPr>
      </p:pic>
      <p:sp>
        <p:nvSpPr>
          <p:cNvPr id="3" name="Rectangle: Rounded Corners 2">
            <a:extLst>
              <a:ext uri="{FF2B5EF4-FFF2-40B4-BE49-F238E27FC236}">
                <a16:creationId xmlns:a16="http://schemas.microsoft.com/office/drawing/2014/main" id="{8A7211F7-F424-2286-40F3-940B8D72B93F}"/>
              </a:ext>
            </a:extLst>
          </p:cNvPr>
          <p:cNvSpPr/>
          <p:nvPr/>
        </p:nvSpPr>
        <p:spPr>
          <a:xfrm>
            <a:off x="9582539" y="2511024"/>
            <a:ext cx="808299" cy="43246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600" dirty="0"/>
              <a:t>Search</a:t>
            </a:r>
            <a:endParaRPr lang="en-US" dirty="0"/>
          </a:p>
        </p:txBody>
      </p:sp>
      <p:sp>
        <p:nvSpPr>
          <p:cNvPr id="5" name="Rectangle: Rounded Corners 4">
            <a:extLst>
              <a:ext uri="{FF2B5EF4-FFF2-40B4-BE49-F238E27FC236}">
                <a16:creationId xmlns:a16="http://schemas.microsoft.com/office/drawing/2014/main" id="{7C8FC26A-B291-DA05-29AE-3B34BF3CA2C5}"/>
              </a:ext>
            </a:extLst>
          </p:cNvPr>
          <p:cNvSpPr/>
          <p:nvPr/>
        </p:nvSpPr>
        <p:spPr>
          <a:xfrm>
            <a:off x="11828593" y="3410338"/>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37" name="Rectangle: Rounded Corners 36">
            <a:extLst>
              <a:ext uri="{FF2B5EF4-FFF2-40B4-BE49-F238E27FC236}">
                <a16:creationId xmlns:a16="http://schemas.microsoft.com/office/drawing/2014/main" id="{D9DF8CA8-B88F-E9AA-9629-A728F0B250DC}"/>
              </a:ext>
            </a:extLst>
          </p:cNvPr>
          <p:cNvSpPr/>
          <p:nvPr/>
        </p:nvSpPr>
        <p:spPr>
          <a:xfrm>
            <a:off x="11828593" y="3755390"/>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38" name="Rectangle: Rounded Corners 37">
            <a:extLst>
              <a:ext uri="{FF2B5EF4-FFF2-40B4-BE49-F238E27FC236}">
                <a16:creationId xmlns:a16="http://schemas.microsoft.com/office/drawing/2014/main" id="{6CF80417-446D-F0D3-85F2-3136A58887E3}"/>
              </a:ext>
            </a:extLst>
          </p:cNvPr>
          <p:cNvSpPr/>
          <p:nvPr/>
        </p:nvSpPr>
        <p:spPr>
          <a:xfrm>
            <a:off x="11828593" y="4100540"/>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39" name="Rectangle: Rounded Corners 38">
            <a:extLst>
              <a:ext uri="{FF2B5EF4-FFF2-40B4-BE49-F238E27FC236}">
                <a16:creationId xmlns:a16="http://schemas.microsoft.com/office/drawing/2014/main" id="{4D5D759C-3A14-D2E6-D207-FF23E8787162}"/>
              </a:ext>
            </a:extLst>
          </p:cNvPr>
          <p:cNvSpPr/>
          <p:nvPr/>
        </p:nvSpPr>
        <p:spPr>
          <a:xfrm>
            <a:off x="11822404" y="4445690"/>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0" name="Rectangle: Rounded Corners 39">
            <a:extLst>
              <a:ext uri="{FF2B5EF4-FFF2-40B4-BE49-F238E27FC236}">
                <a16:creationId xmlns:a16="http://schemas.microsoft.com/office/drawing/2014/main" id="{06A479DE-C978-514A-C986-43F6D81B1197}"/>
              </a:ext>
            </a:extLst>
          </p:cNvPr>
          <p:cNvSpPr/>
          <p:nvPr/>
        </p:nvSpPr>
        <p:spPr>
          <a:xfrm>
            <a:off x="11831735" y="4788247"/>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1" name="Rectangle: Rounded Corners 40">
            <a:extLst>
              <a:ext uri="{FF2B5EF4-FFF2-40B4-BE49-F238E27FC236}">
                <a16:creationId xmlns:a16="http://schemas.microsoft.com/office/drawing/2014/main" id="{D197B880-2E9A-9FE5-3453-737DE83AA4B8}"/>
              </a:ext>
            </a:extLst>
          </p:cNvPr>
          <p:cNvSpPr/>
          <p:nvPr/>
        </p:nvSpPr>
        <p:spPr>
          <a:xfrm>
            <a:off x="11822403" y="5149466"/>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2" name="Rectangle: Rounded Corners 41">
            <a:extLst>
              <a:ext uri="{FF2B5EF4-FFF2-40B4-BE49-F238E27FC236}">
                <a16:creationId xmlns:a16="http://schemas.microsoft.com/office/drawing/2014/main" id="{92E39823-1C36-5616-D187-7F6FD1410BDC}"/>
              </a:ext>
            </a:extLst>
          </p:cNvPr>
          <p:cNvSpPr/>
          <p:nvPr/>
        </p:nvSpPr>
        <p:spPr>
          <a:xfrm>
            <a:off x="11822402" y="5473600"/>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3" name="Rectangle: Rounded Corners 42">
            <a:extLst>
              <a:ext uri="{FF2B5EF4-FFF2-40B4-BE49-F238E27FC236}">
                <a16:creationId xmlns:a16="http://schemas.microsoft.com/office/drawing/2014/main" id="{520EA063-3333-A5FE-BC9E-0B3AEBB7CA0E}"/>
              </a:ext>
            </a:extLst>
          </p:cNvPr>
          <p:cNvSpPr/>
          <p:nvPr/>
        </p:nvSpPr>
        <p:spPr>
          <a:xfrm>
            <a:off x="11831735" y="5830268"/>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4" name="Rectangle: Rounded Corners 43">
            <a:extLst>
              <a:ext uri="{FF2B5EF4-FFF2-40B4-BE49-F238E27FC236}">
                <a16:creationId xmlns:a16="http://schemas.microsoft.com/office/drawing/2014/main" id="{7835AB14-9D2A-2E63-34D3-E084CCFD4292}"/>
              </a:ext>
            </a:extLst>
          </p:cNvPr>
          <p:cNvSpPr/>
          <p:nvPr/>
        </p:nvSpPr>
        <p:spPr>
          <a:xfrm>
            <a:off x="11831735" y="6172825"/>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
        <p:nvSpPr>
          <p:cNvPr id="45" name="Rectangle: Rounded Corners 44">
            <a:extLst>
              <a:ext uri="{FF2B5EF4-FFF2-40B4-BE49-F238E27FC236}">
                <a16:creationId xmlns:a16="http://schemas.microsoft.com/office/drawing/2014/main" id="{8DE5CC05-A9E2-C4C4-135E-1685C3F96863}"/>
              </a:ext>
            </a:extLst>
          </p:cNvPr>
          <p:cNvSpPr/>
          <p:nvPr/>
        </p:nvSpPr>
        <p:spPr>
          <a:xfrm>
            <a:off x="11831735" y="6518226"/>
            <a:ext cx="363407" cy="24662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t>LP</a:t>
            </a:r>
          </a:p>
        </p:txBody>
      </p:sp>
    </p:spTree>
    <p:extLst>
      <p:ext uri="{BB962C8B-B14F-4D97-AF65-F5344CB8AC3E}">
        <p14:creationId xmlns:p14="http://schemas.microsoft.com/office/powerpoint/2010/main" val="4293633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Label printing</a:t>
            </a:r>
            <a:br>
              <a:rPr lang="en-US" dirty="0">
                <a:latin typeface="Bahnschrift Condensed" panose="020B0502040204020203" pitchFamily="34" charset="0"/>
              </a:rPr>
            </a:br>
            <a:r>
              <a:rPr lang="en-US" sz="2000" dirty="0">
                <a:latin typeface="Bahnschrift Condensed" panose="020B0502040204020203" pitchFamily="34" charset="0"/>
              </a:rPr>
              <a:t>(</a:t>
            </a:r>
            <a:r>
              <a:rPr lang="en-US" sz="2000" cap="none" dirty="0">
                <a:latin typeface="Bahnschrift Condensed" panose="020B0502040204020203" pitchFamily="34" charset="0"/>
              </a:rPr>
              <a:t>Will Be Created As A Separate Functionality to print the delivery label for the trial or completed works) </a:t>
            </a:r>
            <a:br>
              <a:rPr lang="en-US" dirty="0">
                <a:latin typeface="Bahnschrift Condensed" panose="020B0502040204020203" pitchFamily="34" charset="0"/>
              </a:rPr>
            </a:br>
            <a:endParaRPr lang="en-US" sz="16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2592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1" y="3785419"/>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65317" y="2962147"/>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02CD7D40-95AE-AEF4-A4BD-2B2B35FDDB45}"/>
              </a:ext>
            </a:extLst>
          </p:cNvPr>
          <p:cNvPicPr>
            <a:picLocks noChangeAspect="1"/>
          </p:cNvPicPr>
          <p:nvPr/>
        </p:nvPicPr>
        <p:blipFill rotWithShape="1">
          <a:blip r:embed="rId6">
            <a:extLst>
              <a:ext uri="{28A0092B-C50C-407E-A947-70E740481C1C}">
                <a14:useLocalDpi xmlns:a14="http://schemas.microsoft.com/office/drawing/2010/main" val="0"/>
              </a:ext>
            </a:extLst>
          </a:blip>
          <a:srcRect l="7658" t="6782" r="51550" b="10370"/>
          <a:stretch/>
        </p:blipFill>
        <p:spPr>
          <a:xfrm>
            <a:off x="4427560" y="1847462"/>
            <a:ext cx="4156605" cy="4983756"/>
          </a:xfrm>
          <a:prstGeom prst="rect">
            <a:avLst/>
          </a:prstGeom>
        </p:spPr>
      </p:pic>
      <p:sp>
        <p:nvSpPr>
          <p:cNvPr id="11" name="Rectangle 10">
            <a:extLst>
              <a:ext uri="{FF2B5EF4-FFF2-40B4-BE49-F238E27FC236}">
                <a16:creationId xmlns:a16="http://schemas.microsoft.com/office/drawing/2014/main" id="{EDD961D5-B259-DB55-4027-BAA82E35607A}"/>
              </a:ext>
            </a:extLst>
          </p:cNvPr>
          <p:cNvSpPr/>
          <p:nvPr/>
        </p:nvSpPr>
        <p:spPr>
          <a:xfrm>
            <a:off x="4599992" y="2750210"/>
            <a:ext cx="3806890" cy="126831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a:p>
            <a:pPr algn="ctr"/>
            <a:endParaRPr lang="en-US" b="1" dirty="0"/>
          </a:p>
          <a:p>
            <a:pPr algn="ctr"/>
            <a:r>
              <a:rPr lang="en-US" b="1" dirty="0"/>
              <a:t>SMILE HOUSE DENTAL LAB</a:t>
            </a:r>
          </a:p>
        </p:txBody>
      </p:sp>
      <p:sp>
        <p:nvSpPr>
          <p:cNvPr id="14" name="Rectangle 13">
            <a:extLst>
              <a:ext uri="{FF2B5EF4-FFF2-40B4-BE49-F238E27FC236}">
                <a16:creationId xmlns:a16="http://schemas.microsoft.com/office/drawing/2014/main" id="{F1795561-F1C1-A424-F334-29771388ADEC}"/>
              </a:ext>
            </a:extLst>
          </p:cNvPr>
          <p:cNvSpPr/>
          <p:nvPr/>
        </p:nvSpPr>
        <p:spPr>
          <a:xfrm>
            <a:off x="531845" y="2109000"/>
            <a:ext cx="1974977" cy="59784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Printed Label</a:t>
            </a:r>
          </a:p>
        </p:txBody>
      </p:sp>
      <p:sp>
        <p:nvSpPr>
          <p:cNvPr id="15" name="Arrow: Right 14">
            <a:extLst>
              <a:ext uri="{FF2B5EF4-FFF2-40B4-BE49-F238E27FC236}">
                <a16:creationId xmlns:a16="http://schemas.microsoft.com/office/drawing/2014/main" id="{ED18AE70-FACF-676F-B654-5359ADA51B88}"/>
              </a:ext>
            </a:extLst>
          </p:cNvPr>
          <p:cNvSpPr/>
          <p:nvPr/>
        </p:nvSpPr>
        <p:spPr>
          <a:xfrm>
            <a:off x="2280062" y="2302881"/>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894077A-A96D-DBAA-010D-BC4F13769F49}"/>
              </a:ext>
            </a:extLst>
          </p:cNvPr>
          <p:cNvSpPr/>
          <p:nvPr/>
        </p:nvSpPr>
        <p:spPr>
          <a:xfrm>
            <a:off x="9263633" y="3785419"/>
            <a:ext cx="2180554" cy="2218859"/>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chemeClr val="bg1"/>
                </a:solidFill>
              </a:rPr>
              <a:t>N.B: This Label will be generated against a client ,not against an order number. Should be easily accessible from the order list. Print will be done through Thermal Label Printer.</a:t>
            </a:r>
          </a:p>
        </p:txBody>
      </p:sp>
      <p:pic>
        <p:nvPicPr>
          <p:cNvPr id="9" name="Picture 8">
            <a:extLst>
              <a:ext uri="{FF2B5EF4-FFF2-40B4-BE49-F238E27FC236}">
                <a16:creationId xmlns:a16="http://schemas.microsoft.com/office/drawing/2014/main" id="{050F416F-04B1-AA6F-E58D-F9E536F2ED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36449" y="2557835"/>
            <a:ext cx="936155" cy="936155"/>
          </a:xfrm>
          <a:prstGeom prst="rect">
            <a:avLst/>
          </a:prstGeom>
        </p:spPr>
      </p:pic>
    </p:spTree>
    <p:extLst>
      <p:ext uri="{BB962C8B-B14F-4D97-AF65-F5344CB8AC3E}">
        <p14:creationId xmlns:p14="http://schemas.microsoft.com/office/powerpoint/2010/main" val="58259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Requested Payment</a:t>
            </a:r>
            <a:br>
              <a:rPr lang="en-US" dirty="0">
                <a:latin typeface="Bahnschrift Condensed" panose="020B0502040204020203" pitchFamily="34" charset="0"/>
              </a:rPr>
            </a:br>
            <a:r>
              <a:rPr lang="en-US" sz="2000" cap="none" dirty="0">
                <a:latin typeface="Bahnschrift Condensed" panose="020B0502040204020203" pitchFamily="34" charset="0"/>
              </a:rPr>
              <a:t>(Requested payment will be displayed in the list for the final approval from the backend.)</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0141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a:p>
            <a:pPr algn="ctr"/>
            <a:r>
              <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(Requested Payment)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62094"/>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71994" y="3900937"/>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BE0F048-0634-B015-054E-00F0EE68B6A3}"/>
              </a:ext>
            </a:extLst>
          </p:cNvPr>
          <p:cNvPicPr>
            <a:picLocks noChangeAspect="1"/>
          </p:cNvPicPr>
          <p:nvPr/>
        </p:nvPicPr>
        <p:blipFill rotWithShape="1">
          <a:blip r:embed="rId6"/>
          <a:srcRect l="15995" t="28602" r="16505" b="50871"/>
          <a:stretch/>
        </p:blipFill>
        <p:spPr>
          <a:xfrm>
            <a:off x="3095232" y="2621902"/>
            <a:ext cx="9106600" cy="3702851"/>
          </a:xfrm>
          <a:prstGeom prst="rect">
            <a:avLst/>
          </a:prstGeom>
        </p:spPr>
      </p:pic>
    </p:spTree>
    <p:extLst>
      <p:ext uri="{BB962C8B-B14F-4D97-AF65-F5344CB8AC3E}">
        <p14:creationId xmlns:p14="http://schemas.microsoft.com/office/powerpoint/2010/main" val="24183450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view Payment</a:t>
            </a:r>
            <a:br>
              <a:rPr lang="en-US" dirty="0">
                <a:latin typeface="Bahnschrift Condensed" panose="020B0502040204020203" pitchFamily="34" charset="0"/>
              </a:rPr>
            </a:br>
            <a:r>
              <a:rPr lang="en-US" sz="2200" cap="none" dirty="0">
                <a:latin typeface="Bahnschrift Condensed" panose="020B0502040204020203" pitchFamily="34" charset="0"/>
              </a:rPr>
              <a:t>(Generate Payment report for a certain duration)</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(View Payment)</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67933" y="3945817"/>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F9B8870-A1B0-957D-C2B3-4410DC80E487}"/>
              </a:ext>
            </a:extLst>
          </p:cNvPr>
          <p:cNvPicPr>
            <a:picLocks noChangeAspect="1"/>
          </p:cNvPicPr>
          <p:nvPr/>
        </p:nvPicPr>
        <p:blipFill rotWithShape="1">
          <a:blip r:embed="rId6"/>
          <a:srcRect l="2906" t="12245" r="1452" b="13733"/>
          <a:stretch/>
        </p:blipFill>
        <p:spPr>
          <a:xfrm>
            <a:off x="3067736" y="1455576"/>
            <a:ext cx="9124263" cy="5404805"/>
          </a:xfrm>
          <a:prstGeom prst="rect">
            <a:avLst/>
          </a:prstGeom>
        </p:spPr>
      </p:pic>
    </p:spTree>
    <p:extLst>
      <p:ext uri="{BB962C8B-B14F-4D97-AF65-F5344CB8AC3E}">
        <p14:creationId xmlns:p14="http://schemas.microsoft.com/office/powerpoint/2010/main" val="679186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Create Payment</a:t>
            </a:r>
            <a:br>
              <a:rPr lang="en-US" dirty="0">
                <a:latin typeface="Bahnschrift Condensed" panose="020B0502040204020203" pitchFamily="34" charset="0"/>
              </a:rPr>
            </a:br>
            <a:r>
              <a:rPr lang="en-US" sz="1400" cap="none" dirty="0">
                <a:latin typeface="Bahnschrift Condensed" panose="020B0502040204020203" pitchFamily="34" charset="0"/>
              </a:rPr>
              <a:t>(Can be searched by Client or Clinic name. After selecting any from the list, address will be auto filled up. </a:t>
            </a:r>
            <a:br>
              <a:rPr lang="en-US" sz="1400" cap="none" dirty="0">
                <a:latin typeface="Bahnschrift Condensed" panose="020B0502040204020203" pitchFamily="34" charset="0"/>
              </a:rPr>
            </a:br>
            <a:r>
              <a:rPr lang="en-US" sz="1400" cap="none" dirty="0">
                <a:latin typeface="Bahnschrift Condensed" panose="020B0502040204020203" pitchFamily="34" charset="0"/>
              </a:rPr>
              <a:t>And the details will be shown after clicking the search button. Initially, the Upload Receipt option will be optional,</a:t>
            </a:r>
            <a:br>
              <a:rPr lang="en-US" sz="1400" cap="none" dirty="0">
                <a:latin typeface="Bahnschrift Condensed" panose="020B0502040204020203" pitchFamily="34" charset="0"/>
              </a:rPr>
            </a:br>
            <a:r>
              <a:rPr lang="en-US" sz="1400" cap="none" dirty="0">
                <a:latin typeface="Bahnschrift Condensed" panose="020B0502040204020203" pitchFamily="34" charset="0"/>
              </a:rPr>
              <a:t>but later on it will be marked as mandatory)</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(Create Payment)</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76981" y="4601201"/>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67933" y="3945817"/>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1BEC385-171C-A8CB-F75E-7E7129A97B85}"/>
              </a:ext>
            </a:extLst>
          </p:cNvPr>
          <p:cNvPicPr>
            <a:picLocks noChangeAspect="1"/>
          </p:cNvPicPr>
          <p:nvPr/>
        </p:nvPicPr>
        <p:blipFill>
          <a:blip r:embed="rId6"/>
          <a:stretch>
            <a:fillRect/>
          </a:stretch>
        </p:blipFill>
        <p:spPr>
          <a:xfrm>
            <a:off x="3085400" y="1884784"/>
            <a:ext cx="9106600" cy="5007636"/>
          </a:xfrm>
          <a:prstGeom prst="rect">
            <a:avLst/>
          </a:prstGeom>
        </p:spPr>
      </p:pic>
      <p:sp>
        <p:nvSpPr>
          <p:cNvPr id="5" name="Rectangle: Rounded Corners 4">
            <a:extLst>
              <a:ext uri="{FF2B5EF4-FFF2-40B4-BE49-F238E27FC236}">
                <a16:creationId xmlns:a16="http://schemas.microsoft.com/office/drawing/2014/main" id="{900BF100-BE99-8D99-80B8-74F8A111EABA}"/>
              </a:ext>
            </a:extLst>
          </p:cNvPr>
          <p:cNvSpPr/>
          <p:nvPr/>
        </p:nvSpPr>
        <p:spPr>
          <a:xfrm>
            <a:off x="3331030" y="2024743"/>
            <a:ext cx="2183362" cy="4198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Client Name Search</a:t>
            </a:r>
          </a:p>
        </p:txBody>
      </p:sp>
      <p:sp>
        <p:nvSpPr>
          <p:cNvPr id="18" name="Rectangle: Rounded Corners 17">
            <a:extLst>
              <a:ext uri="{FF2B5EF4-FFF2-40B4-BE49-F238E27FC236}">
                <a16:creationId xmlns:a16="http://schemas.microsoft.com/office/drawing/2014/main" id="{3EAC34C9-D09D-90F5-B603-C718D6145E12}"/>
              </a:ext>
            </a:extLst>
          </p:cNvPr>
          <p:cNvSpPr/>
          <p:nvPr/>
        </p:nvSpPr>
        <p:spPr>
          <a:xfrm>
            <a:off x="5872067" y="2024743"/>
            <a:ext cx="2183362" cy="4198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Clinic Name Search</a:t>
            </a:r>
          </a:p>
        </p:txBody>
      </p:sp>
      <p:sp>
        <p:nvSpPr>
          <p:cNvPr id="19" name="Rectangle: Rounded Corners 18">
            <a:extLst>
              <a:ext uri="{FF2B5EF4-FFF2-40B4-BE49-F238E27FC236}">
                <a16:creationId xmlns:a16="http://schemas.microsoft.com/office/drawing/2014/main" id="{253F230D-6864-D93A-F8F7-F55D108F8376}"/>
              </a:ext>
            </a:extLst>
          </p:cNvPr>
          <p:cNvSpPr/>
          <p:nvPr/>
        </p:nvSpPr>
        <p:spPr>
          <a:xfrm>
            <a:off x="8413104" y="2024743"/>
            <a:ext cx="2183362" cy="4198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Address Auto Fill up</a:t>
            </a:r>
          </a:p>
        </p:txBody>
      </p:sp>
      <p:sp>
        <p:nvSpPr>
          <p:cNvPr id="20" name="Rectangle: Rounded Corners 19">
            <a:extLst>
              <a:ext uri="{FF2B5EF4-FFF2-40B4-BE49-F238E27FC236}">
                <a16:creationId xmlns:a16="http://schemas.microsoft.com/office/drawing/2014/main" id="{5CA9235F-FFB7-1367-5AD6-DCD55D4572B6}"/>
              </a:ext>
            </a:extLst>
          </p:cNvPr>
          <p:cNvSpPr/>
          <p:nvPr/>
        </p:nvSpPr>
        <p:spPr>
          <a:xfrm>
            <a:off x="10879493" y="2024743"/>
            <a:ext cx="849087" cy="41987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400" b="1" dirty="0"/>
              <a:t>Search</a:t>
            </a:r>
          </a:p>
        </p:txBody>
      </p:sp>
    </p:spTree>
    <p:extLst>
      <p:ext uri="{BB962C8B-B14F-4D97-AF65-F5344CB8AC3E}">
        <p14:creationId xmlns:p14="http://schemas.microsoft.com/office/powerpoint/2010/main" val="3846675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Client report</a:t>
            </a:r>
            <a:br>
              <a:rPr lang="en-US" dirty="0">
                <a:latin typeface="Bahnschrift Condensed" panose="020B0502040204020203" pitchFamily="34" charset="0"/>
              </a:rPr>
            </a:br>
            <a:r>
              <a:rPr lang="en-US" sz="1400" cap="none" dirty="0">
                <a:latin typeface="Bahnschrift Condensed" panose="020B0502040204020203" pitchFamily="34" charset="0"/>
              </a:rPr>
              <a:t>(Client name or clinic name need to be selected from drop-down menu. Details of client will be filled-up.</a:t>
            </a:r>
            <a:br>
              <a:rPr lang="en-US" sz="1400" cap="none" dirty="0">
                <a:latin typeface="Bahnschrift Condensed" panose="020B0502040204020203" pitchFamily="34" charset="0"/>
              </a:rPr>
            </a:br>
            <a:r>
              <a:rPr lang="en-US" sz="1400" cap="none" dirty="0">
                <a:latin typeface="Bahnschrift Condensed" panose="020B0502040204020203" pitchFamily="34" charset="0"/>
              </a:rPr>
              <a:t>Statement can be generated for all time or from date to date)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591683"/>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(Statement)</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03381" y="4768492"/>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9F83A8E5-377A-B043-084A-6FDEAB258955}"/>
              </a:ext>
            </a:extLst>
          </p:cNvPr>
          <p:cNvPicPr>
            <a:picLocks noChangeAspect="1"/>
          </p:cNvPicPr>
          <p:nvPr/>
        </p:nvPicPr>
        <p:blipFill rotWithShape="1">
          <a:blip r:embed="rId6"/>
          <a:srcRect l="5741" t="19048" r="1117" b="40000"/>
          <a:stretch/>
        </p:blipFill>
        <p:spPr>
          <a:xfrm>
            <a:off x="3066550" y="1874890"/>
            <a:ext cx="9125451" cy="4041269"/>
          </a:xfrm>
          <a:prstGeom prst="rect">
            <a:avLst/>
          </a:prstGeom>
        </p:spPr>
      </p:pic>
      <p:sp>
        <p:nvSpPr>
          <p:cNvPr id="3" name="Rectangle 2">
            <a:extLst>
              <a:ext uri="{FF2B5EF4-FFF2-40B4-BE49-F238E27FC236}">
                <a16:creationId xmlns:a16="http://schemas.microsoft.com/office/drawing/2014/main" id="{B0E8B03F-41DC-DC56-6404-C086293215A3}"/>
              </a:ext>
            </a:extLst>
          </p:cNvPr>
          <p:cNvSpPr/>
          <p:nvPr/>
        </p:nvSpPr>
        <p:spPr>
          <a:xfrm>
            <a:off x="4506686" y="3429000"/>
            <a:ext cx="6456783" cy="116268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 name="Rectangle 3">
            <a:extLst>
              <a:ext uri="{FF2B5EF4-FFF2-40B4-BE49-F238E27FC236}">
                <a16:creationId xmlns:a16="http://schemas.microsoft.com/office/drawing/2014/main" id="{0813A5CC-4E6D-AC57-2831-44EE787FEBC7}"/>
              </a:ext>
            </a:extLst>
          </p:cNvPr>
          <p:cNvSpPr/>
          <p:nvPr/>
        </p:nvSpPr>
        <p:spPr>
          <a:xfrm>
            <a:off x="3143410" y="2423493"/>
            <a:ext cx="2789678" cy="3112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Select Clinic</a:t>
            </a:r>
            <a:endParaRPr lang="en-US" dirty="0"/>
          </a:p>
        </p:txBody>
      </p:sp>
      <p:sp>
        <p:nvSpPr>
          <p:cNvPr id="5" name="Isosceles Triangle 4">
            <a:extLst>
              <a:ext uri="{FF2B5EF4-FFF2-40B4-BE49-F238E27FC236}">
                <a16:creationId xmlns:a16="http://schemas.microsoft.com/office/drawing/2014/main" id="{C548AC48-7BD0-08A5-DD1E-EDA4AC4D4D0C}"/>
              </a:ext>
            </a:extLst>
          </p:cNvPr>
          <p:cNvSpPr/>
          <p:nvPr/>
        </p:nvSpPr>
        <p:spPr>
          <a:xfrm flipV="1">
            <a:off x="5579706" y="2539411"/>
            <a:ext cx="139959" cy="1505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39AEAAF-0B0D-578A-77B3-3DCACDE4CC86}"/>
              </a:ext>
            </a:extLst>
          </p:cNvPr>
          <p:cNvSpPr/>
          <p:nvPr/>
        </p:nvSpPr>
        <p:spPr>
          <a:xfrm>
            <a:off x="3165178" y="2837145"/>
            <a:ext cx="2789678" cy="3112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Select Client</a:t>
            </a:r>
            <a:endParaRPr lang="en-US" dirty="0"/>
          </a:p>
        </p:txBody>
      </p:sp>
      <p:sp>
        <p:nvSpPr>
          <p:cNvPr id="19" name="Isosceles Triangle 18">
            <a:extLst>
              <a:ext uri="{FF2B5EF4-FFF2-40B4-BE49-F238E27FC236}">
                <a16:creationId xmlns:a16="http://schemas.microsoft.com/office/drawing/2014/main" id="{14B6C9E3-2AA5-8778-7C67-12127AB8B8D8}"/>
              </a:ext>
            </a:extLst>
          </p:cNvPr>
          <p:cNvSpPr/>
          <p:nvPr/>
        </p:nvSpPr>
        <p:spPr>
          <a:xfrm flipV="1">
            <a:off x="5601474" y="2953063"/>
            <a:ext cx="139959" cy="1505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7F7CE8E2-1DA7-C5EB-5CFA-600DE3282F66}"/>
              </a:ext>
            </a:extLst>
          </p:cNvPr>
          <p:cNvSpPr/>
          <p:nvPr/>
        </p:nvSpPr>
        <p:spPr>
          <a:xfrm>
            <a:off x="3657600" y="3787755"/>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Select All or Date to Date</a:t>
            </a:r>
            <a:endParaRPr lang="en-US" dirty="0"/>
          </a:p>
        </p:txBody>
      </p:sp>
      <p:sp>
        <p:nvSpPr>
          <p:cNvPr id="20" name="Rectangle 19">
            <a:extLst>
              <a:ext uri="{FF2B5EF4-FFF2-40B4-BE49-F238E27FC236}">
                <a16:creationId xmlns:a16="http://schemas.microsoft.com/office/drawing/2014/main" id="{76B2A9A0-DC8D-717A-574B-DBCCE4A1DEF2}"/>
              </a:ext>
            </a:extLst>
          </p:cNvPr>
          <p:cNvSpPr/>
          <p:nvPr/>
        </p:nvSpPr>
        <p:spPr>
          <a:xfrm>
            <a:off x="6366909" y="3791955"/>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Date From</a:t>
            </a:r>
            <a:endParaRPr lang="en-US" dirty="0"/>
          </a:p>
        </p:txBody>
      </p:sp>
      <p:sp>
        <p:nvSpPr>
          <p:cNvPr id="21" name="Rectangle 20">
            <a:extLst>
              <a:ext uri="{FF2B5EF4-FFF2-40B4-BE49-F238E27FC236}">
                <a16:creationId xmlns:a16="http://schemas.microsoft.com/office/drawing/2014/main" id="{53412EDA-B19A-0FE6-971A-B62CA0DC4722}"/>
              </a:ext>
            </a:extLst>
          </p:cNvPr>
          <p:cNvSpPr/>
          <p:nvPr/>
        </p:nvSpPr>
        <p:spPr>
          <a:xfrm>
            <a:off x="9121883" y="3792016"/>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Date to</a:t>
            </a:r>
            <a:endParaRPr lang="en-US" dirty="0"/>
          </a:p>
        </p:txBody>
      </p:sp>
      <p:sp>
        <p:nvSpPr>
          <p:cNvPr id="10" name="Rectangle 9">
            <a:extLst>
              <a:ext uri="{FF2B5EF4-FFF2-40B4-BE49-F238E27FC236}">
                <a16:creationId xmlns:a16="http://schemas.microsoft.com/office/drawing/2014/main" id="{0BD81D67-0959-F3A2-0889-1A9992103569}"/>
              </a:ext>
            </a:extLst>
          </p:cNvPr>
          <p:cNvSpPr/>
          <p:nvPr/>
        </p:nvSpPr>
        <p:spPr>
          <a:xfrm>
            <a:off x="6366909" y="4361682"/>
            <a:ext cx="2481600" cy="23000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Search</a:t>
            </a:r>
          </a:p>
        </p:txBody>
      </p:sp>
    </p:spTree>
    <p:extLst>
      <p:ext uri="{BB962C8B-B14F-4D97-AF65-F5344CB8AC3E}">
        <p14:creationId xmlns:p14="http://schemas.microsoft.com/office/powerpoint/2010/main" val="814152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Full Statement view</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591683"/>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(1. Full Statement)</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294050" y="477782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A655B88-B8B8-18D1-7E20-E034DD7099A6}"/>
              </a:ext>
            </a:extLst>
          </p:cNvPr>
          <p:cNvPicPr>
            <a:picLocks noChangeAspect="1"/>
          </p:cNvPicPr>
          <p:nvPr/>
        </p:nvPicPr>
        <p:blipFill rotWithShape="1">
          <a:blip r:embed="rId6"/>
          <a:srcRect l="888" t="13734" r="1452" b="4899"/>
          <a:stretch/>
        </p:blipFill>
        <p:spPr>
          <a:xfrm>
            <a:off x="3085211" y="1765312"/>
            <a:ext cx="9097739" cy="5092687"/>
          </a:xfrm>
          <a:prstGeom prst="rect">
            <a:avLst/>
          </a:prstGeom>
        </p:spPr>
      </p:pic>
      <p:sp>
        <p:nvSpPr>
          <p:cNvPr id="12" name="Rectangle 11">
            <a:extLst>
              <a:ext uri="{FF2B5EF4-FFF2-40B4-BE49-F238E27FC236}">
                <a16:creationId xmlns:a16="http://schemas.microsoft.com/office/drawing/2014/main" id="{63F21E58-2F0E-FB9B-5BAE-9B7EECFD61C3}"/>
              </a:ext>
            </a:extLst>
          </p:cNvPr>
          <p:cNvSpPr/>
          <p:nvPr/>
        </p:nvSpPr>
        <p:spPr>
          <a:xfrm>
            <a:off x="11206065" y="3557753"/>
            <a:ext cx="877078" cy="31164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DDB35EAB-6804-020D-0362-68A99DAF96F9}"/>
              </a:ext>
            </a:extLst>
          </p:cNvPr>
          <p:cNvSpPr/>
          <p:nvPr/>
        </p:nvSpPr>
        <p:spPr>
          <a:xfrm>
            <a:off x="3159858" y="3237726"/>
            <a:ext cx="2373196" cy="914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050" dirty="0"/>
              <a:t>Clinic Name</a:t>
            </a:r>
          </a:p>
          <a:p>
            <a:r>
              <a:rPr lang="en-US" sz="1050" dirty="0"/>
              <a:t>ATTN: Doctor Name</a:t>
            </a:r>
          </a:p>
          <a:p>
            <a:r>
              <a:rPr lang="en-US" sz="1050" dirty="0"/>
              <a:t>Clinic Address</a:t>
            </a:r>
          </a:p>
          <a:p>
            <a:r>
              <a:rPr lang="en-US" sz="1050" dirty="0"/>
              <a:t>Phone:</a:t>
            </a:r>
          </a:p>
          <a:p>
            <a:r>
              <a:rPr lang="en-US" sz="1050" dirty="0"/>
              <a:t>ID:</a:t>
            </a:r>
          </a:p>
        </p:txBody>
      </p:sp>
      <p:sp>
        <p:nvSpPr>
          <p:cNvPr id="14" name="Rectangle 13">
            <a:extLst>
              <a:ext uri="{FF2B5EF4-FFF2-40B4-BE49-F238E27FC236}">
                <a16:creationId xmlns:a16="http://schemas.microsoft.com/office/drawing/2014/main" id="{C7FC4B8A-6D9C-E520-95E8-7AC60EFA236F}"/>
              </a:ext>
            </a:extLst>
          </p:cNvPr>
          <p:cNvSpPr/>
          <p:nvPr/>
        </p:nvSpPr>
        <p:spPr>
          <a:xfrm>
            <a:off x="11206065" y="3279158"/>
            <a:ext cx="877078" cy="149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Print Date</a:t>
            </a:r>
            <a:endParaRPr lang="en-US" dirty="0"/>
          </a:p>
        </p:txBody>
      </p:sp>
      <p:sp>
        <p:nvSpPr>
          <p:cNvPr id="15" name="Rectangle 14">
            <a:extLst>
              <a:ext uri="{FF2B5EF4-FFF2-40B4-BE49-F238E27FC236}">
                <a16:creationId xmlns:a16="http://schemas.microsoft.com/office/drawing/2014/main" id="{4CE01FCA-EC90-FC98-A770-6B1DA50972BC}"/>
              </a:ext>
            </a:extLst>
          </p:cNvPr>
          <p:cNvSpPr/>
          <p:nvPr/>
        </p:nvSpPr>
        <p:spPr>
          <a:xfrm>
            <a:off x="6186196" y="4870580"/>
            <a:ext cx="5896947" cy="14984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Rectangle 27">
            <a:extLst>
              <a:ext uri="{FF2B5EF4-FFF2-40B4-BE49-F238E27FC236}">
                <a16:creationId xmlns:a16="http://schemas.microsoft.com/office/drawing/2014/main" id="{D801DB16-3017-AF65-BD2C-1DC899AAAACB}"/>
              </a:ext>
            </a:extLst>
          </p:cNvPr>
          <p:cNvSpPr/>
          <p:nvPr/>
        </p:nvSpPr>
        <p:spPr>
          <a:xfrm>
            <a:off x="7221894" y="2703554"/>
            <a:ext cx="1539551" cy="2970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Full Statement</a:t>
            </a:r>
            <a:endParaRPr lang="en-US" b="1" dirty="0"/>
          </a:p>
        </p:txBody>
      </p:sp>
    </p:spTree>
    <p:extLst>
      <p:ext uri="{BB962C8B-B14F-4D97-AF65-F5344CB8AC3E}">
        <p14:creationId xmlns:p14="http://schemas.microsoft.com/office/powerpoint/2010/main" val="1536364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Date to date Statement view</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60347"/>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(2. Date to Date Statement)</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7782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a:extLst>
              <a:ext uri="{FF2B5EF4-FFF2-40B4-BE49-F238E27FC236}">
                <a16:creationId xmlns:a16="http://schemas.microsoft.com/office/drawing/2014/main" id="{4A655B88-B8B8-18D1-7E20-E034DD7099A6}"/>
              </a:ext>
            </a:extLst>
          </p:cNvPr>
          <p:cNvPicPr>
            <a:picLocks noChangeAspect="1"/>
          </p:cNvPicPr>
          <p:nvPr/>
        </p:nvPicPr>
        <p:blipFill rotWithShape="1">
          <a:blip r:embed="rId6"/>
          <a:srcRect l="888" t="13734" r="1452" b="4899"/>
          <a:stretch/>
        </p:blipFill>
        <p:spPr>
          <a:xfrm>
            <a:off x="3085211" y="1765312"/>
            <a:ext cx="9097739" cy="5092687"/>
          </a:xfrm>
          <a:prstGeom prst="rect">
            <a:avLst/>
          </a:prstGeom>
        </p:spPr>
      </p:pic>
      <p:sp>
        <p:nvSpPr>
          <p:cNvPr id="13" name="Rectangle 12">
            <a:extLst>
              <a:ext uri="{FF2B5EF4-FFF2-40B4-BE49-F238E27FC236}">
                <a16:creationId xmlns:a16="http://schemas.microsoft.com/office/drawing/2014/main" id="{DDB35EAB-6804-020D-0362-68A99DAF96F9}"/>
              </a:ext>
            </a:extLst>
          </p:cNvPr>
          <p:cNvSpPr/>
          <p:nvPr/>
        </p:nvSpPr>
        <p:spPr>
          <a:xfrm>
            <a:off x="3159858" y="3237726"/>
            <a:ext cx="2373196" cy="914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050" dirty="0"/>
              <a:t>Clinic Name</a:t>
            </a:r>
          </a:p>
          <a:p>
            <a:r>
              <a:rPr lang="en-US" sz="1050" dirty="0"/>
              <a:t>ATTN: Doctor Name</a:t>
            </a:r>
          </a:p>
          <a:p>
            <a:r>
              <a:rPr lang="en-US" sz="1050" dirty="0"/>
              <a:t>Clinic Address</a:t>
            </a:r>
          </a:p>
          <a:p>
            <a:r>
              <a:rPr lang="en-US" sz="1050" dirty="0"/>
              <a:t>Phone:</a:t>
            </a:r>
          </a:p>
          <a:p>
            <a:r>
              <a:rPr lang="en-US" sz="1050" dirty="0"/>
              <a:t>ID:</a:t>
            </a:r>
          </a:p>
        </p:txBody>
      </p:sp>
      <p:sp>
        <p:nvSpPr>
          <p:cNvPr id="14" name="Rectangle 13">
            <a:extLst>
              <a:ext uri="{FF2B5EF4-FFF2-40B4-BE49-F238E27FC236}">
                <a16:creationId xmlns:a16="http://schemas.microsoft.com/office/drawing/2014/main" id="{C7FC4B8A-6D9C-E520-95E8-7AC60EFA236F}"/>
              </a:ext>
            </a:extLst>
          </p:cNvPr>
          <p:cNvSpPr/>
          <p:nvPr/>
        </p:nvSpPr>
        <p:spPr>
          <a:xfrm>
            <a:off x="11206065" y="3279158"/>
            <a:ext cx="877078" cy="149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Print Date</a:t>
            </a:r>
            <a:endParaRPr lang="en-US" dirty="0"/>
          </a:p>
        </p:txBody>
      </p:sp>
      <p:sp>
        <p:nvSpPr>
          <p:cNvPr id="28" name="Rectangle 27">
            <a:extLst>
              <a:ext uri="{FF2B5EF4-FFF2-40B4-BE49-F238E27FC236}">
                <a16:creationId xmlns:a16="http://schemas.microsoft.com/office/drawing/2014/main" id="{D801DB16-3017-AF65-BD2C-1DC899AAAACB}"/>
              </a:ext>
            </a:extLst>
          </p:cNvPr>
          <p:cNvSpPr/>
          <p:nvPr/>
        </p:nvSpPr>
        <p:spPr>
          <a:xfrm>
            <a:off x="6811348" y="2703554"/>
            <a:ext cx="2379306" cy="29701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t>Date to Date Statement</a:t>
            </a:r>
            <a:endParaRPr lang="en-US" b="1" dirty="0"/>
          </a:p>
        </p:txBody>
      </p:sp>
    </p:spTree>
    <p:extLst>
      <p:ext uri="{BB962C8B-B14F-4D97-AF65-F5344CB8AC3E}">
        <p14:creationId xmlns:p14="http://schemas.microsoft.com/office/powerpoint/2010/main" val="3289942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Client Summary</a:t>
            </a:r>
            <a:br>
              <a:rPr lang="en-US" dirty="0">
                <a:latin typeface="Bahnschrift Condensed" panose="020B0502040204020203" pitchFamily="34" charset="0"/>
              </a:rPr>
            </a:br>
            <a:r>
              <a:rPr lang="en-US" sz="2000" cap="none" dirty="0">
                <a:latin typeface="Bahnschrift Condensed" panose="020B0502040204020203" pitchFamily="34" charset="0"/>
              </a:rPr>
              <a:t>(Client summary can be search from date to date)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(Client Summary)</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7782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080FAA0-E47B-D8F1-B3A4-E922B1773A40}"/>
              </a:ext>
            </a:extLst>
          </p:cNvPr>
          <p:cNvPicPr>
            <a:picLocks noChangeAspect="1"/>
          </p:cNvPicPr>
          <p:nvPr/>
        </p:nvPicPr>
        <p:blipFill rotWithShape="1">
          <a:blip r:embed="rId6"/>
          <a:srcRect l="10944" t="18231" r="11224" b="22980"/>
          <a:stretch/>
        </p:blipFill>
        <p:spPr>
          <a:xfrm>
            <a:off x="3066549" y="1765313"/>
            <a:ext cx="9109591" cy="5092687"/>
          </a:xfrm>
          <a:prstGeom prst="rect">
            <a:avLst/>
          </a:prstGeom>
        </p:spPr>
      </p:pic>
    </p:spTree>
    <p:extLst>
      <p:ext uri="{BB962C8B-B14F-4D97-AF65-F5344CB8AC3E}">
        <p14:creationId xmlns:p14="http://schemas.microsoft.com/office/powerpoint/2010/main" val="2184948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Client Summary View</a:t>
            </a:r>
            <a:br>
              <a:rPr lang="en-US" dirty="0">
                <a:latin typeface="Bahnschrift Condensed" panose="020B0502040204020203" pitchFamily="34" charset="0"/>
              </a:rPr>
            </a:br>
            <a:r>
              <a:rPr lang="en-US" sz="2000" cap="none" dirty="0">
                <a:latin typeface="Bahnschrift Condensed" panose="020B0502040204020203" pitchFamily="34" charset="0"/>
              </a:rPr>
              <a:t>(Client summary can be search from date to date)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(Client Report View)</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7782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D5515D8-071F-F5E5-AF7F-B200BE3C70A8}"/>
              </a:ext>
            </a:extLst>
          </p:cNvPr>
          <p:cNvPicPr>
            <a:picLocks noChangeAspect="1"/>
          </p:cNvPicPr>
          <p:nvPr/>
        </p:nvPicPr>
        <p:blipFill rotWithShape="1">
          <a:blip r:embed="rId6"/>
          <a:srcRect l="1307" t="11837" r="2194" b="5851"/>
          <a:stretch/>
        </p:blipFill>
        <p:spPr>
          <a:xfrm>
            <a:off x="3066551" y="1828799"/>
            <a:ext cx="9125450" cy="5059019"/>
          </a:xfrm>
          <a:prstGeom prst="rect">
            <a:avLst/>
          </a:prstGeom>
        </p:spPr>
      </p:pic>
      <p:sp>
        <p:nvSpPr>
          <p:cNvPr id="7" name="Rectangle 6">
            <a:extLst>
              <a:ext uri="{FF2B5EF4-FFF2-40B4-BE49-F238E27FC236}">
                <a16:creationId xmlns:a16="http://schemas.microsoft.com/office/drawing/2014/main" id="{FB1B70D7-72D8-3D66-E83F-574542551F23}"/>
              </a:ext>
            </a:extLst>
          </p:cNvPr>
          <p:cNvSpPr/>
          <p:nvPr/>
        </p:nvSpPr>
        <p:spPr>
          <a:xfrm>
            <a:off x="7651102" y="2320523"/>
            <a:ext cx="690465" cy="18941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1F7D8CB5-CE5B-5B51-C32D-C4E4EED60F59}"/>
              </a:ext>
            </a:extLst>
          </p:cNvPr>
          <p:cNvSpPr/>
          <p:nvPr/>
        </p:nvSpPr>
        <p:spPr>
          <a:xfrm>
            <a:off x="8985380" y="3429001"/>
            <a:ext cx="494522" cy="34290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32553471-7145-EB16-654B-4E1D18F4D66D}"/>
              </a:ext>
            </a:extLst>
          </p:cNvPr>
          <p:cNvSpPr/>
          <p:nvPr/>
        </p:nvSpPr>
        <p:spPr>
          <a:xfrm>
            <a:off x="8901404" y="3200400"/>
            <a:ext cx="494522" cy="13995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412574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On behalf Client Summary</a:t>
            </a:r>
            <a:br>
              <a:rPr lang="en-US" dirty="0">
                <a:latin typeface="Bahnschrift Condensed" panose="020B0502040204020203" pitchFamily="34" charset="0"/>
              </a:rPr>
            </a:br>
            <a:r>
              <a:rPr lang="en-US" sz="1800" cap="none" dirty="0">
                <a:latin typeface="Bahnschrift Condensed" panose="020B0502040204020203" pitchFamily="34" charset="0"/>
              </a:rPr>
              <a:t>(Representative Can view their respective client summary. Management can see all the user’s information.</a:t>
            </a:r>
            <a:br>
              <a:rPr lang="en-US" sz="1800" cap="none" dirty="0">
                <a:latin typeface="Bahnschrift Condensed" panose="020B0502040204020203" pitchFamily="34" charset="0"/>
              </a:rPr>
            </a:br>
            <a:r>
              <a:rPr lang="en-US" sz="1800" cap="none" dirty="0">
                <a:latin typeface="Bahnschrift Condensed" panose="020B0502040204020203" pitchFamily="34" charset="0"/>
              </a:rPr>
              <a:t>View should be assigned from the access list)</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(On Behalf Client Summary)</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7782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783EC70F-9E64-C6F5-9E7A-9C7303CBB325}"/>
              </a:ext>
            </a:extLst>
          </p:cNvPr>
          <p:cNvPicPr>
            <a:picLocks noChangeAspect="1"/>
          </p:cNvPicPr>
          <p:nvPr/>
        </p:nvPicPr>
        <p:blipFill rotWithShape="1">
          <a:blip r:embed="rId6"/>
          <a:srcRect l="15076" t="17687" r="9617" b="13733"/>
          <a:stretch/>
        </p:blipFill>
        <p:spPr>
          <a:xfrm>
            <a:off x="3085400" y="1765313"/>
            <a:ext cx="9099807" cy="5081299"/>
          </a:xfrm>
          <a:prstGeom prst="rect">
            <a:avLst/>
          </a:prstGeom>
        </p:spPr>
      </p:pic>
    </p:spTree>
    <p:extLst>
      <p:ext uri="{BB962C8B-B14F-4D97-AF65-F5344CB8AC3E}">
        <p14:creationId xmlns:p14="http://schemas.microsoft.com/office/powerpoint/2010/main" val="2828494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On behalf Client Summary view</a:t>
            </a:r>
            <a:br>
              <a:rPr lang="en-US" dirty="0">
                <a:latin typeface="Bahnschrift Condensed" panose="020B0502040204020203" pitchFamily="34" charset="0"/>
              </a:rPr>
            </a:br>
            <a:r>
              <a:rPr lang="en-US" sz="1800" cap="none" dirty="0">
                <a:latin typeface="Bahnschrift Condensed" panose="020B0502040204020203" pitchFamily="34" charset="0"/>
              </a:rPr>
              <a:t>(View of the On Behalf Client summary Report)</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(On Behalf Client Summary View)</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31169"/>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4E9B5E47-5BE0-6183-0E44-53CBED0D2E1B}"/>
              </a:ext>
            </a:extLst>
          </p:cNvPr>
          <p:cNvPicPr>
            <a:picLocks noChangeAspect="1"/>
          </p:cNvPicPr>
          <p:nvPr/>
        </p:nvPicPr>
        <p:blipFill rotWithShape="1">
          <a:blip r:embed="rId6"/>
          <a:srcRect l="888" t="12517" r="1452" b="10068"/>
          <a:stretch/>
        </p:blipFill>
        <p:spPr>
          <a:xfrm>
            <a:off x="3090101" y="1765314"/>
            <a:ext cx="9083544" cy="5089782"/>
          </a:xfrm>
          <a:prstGeom prst="rect">
            <a:avLst/>
          </a:prstGeom>
        </p:spPr>
      </p:pic>
      <p:sp>
        <p:nvSpPr>
          <p:cNvPr id="7" name="Rectangle 6">
            <a:extLst>
              <a:ext uri="{FF2B5EF4-FFF2-40B4-BE49-F238E27FC236}">
                <a16:creationId xmlns:a16="http://schemas.microsoft.com/office/drawing/2014/main" id="{1DB1B6E5-5171-8703-1445-D7C57C6E2597}"/>
              </a:ext>
            </a:extLst>
          </p:cNvPr>
          <p:cNvSpPr/>
          <p:nvPr/>
        </p:nvSpPr>
        <p:spPr>
          <a:xfrm>
            <a:off x="8677469" y="3163078"/>
            <a:ext cx="615821" cy="17728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7D0056D-0785-D8DA-B4C3-47A62B81FA34}"/>
              </a:ext>
            </a:extLst>
          </p:cNvPr>
          <p:cNvSpPr/>
          <p:nvPr/>
        </p:nvSpPr>
        <p:spPr>
          <a:xfrm>
            <a:off x="8901404" y="3539091"/>
            <a:ext cx="391886" cy="3174189"/>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51916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Invoice search</a:t>
            </a:r>
            <a:br>
              <a:rPr lang="en-US" dirty="0">
                <a:latin typeface="Bahnschrift Condensed" panose="020B0502040204020203" pitchFamily="34" charset="0"/>
              </a:rPr>
            </a:br>
            <a:r>
              <a:rPr lang="en-US" sz="1800" cap="none" dirty="0">
                <a:latin typeface="Bahnschrift Condensed" panose="020B0502040204020203" pitchFamily="34" charset="0"/>
              </a:rPr>
              <a:t>(Search all the invoice or from date to date)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(Invoice Search)</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4731169"/>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9025E314-1870-C3E8-3B90-FB62F6F234E0}"/>
              </a:ext>
            </a:extLst>
          </p:cNvPr>
          <p:cNvPicPr>
            <a:picLocks noChangeAspect="1"/>
          </p:cNvPicPr>
          <p:nvPr/>
        </p:nvPicPr>
        <p:blipFill rotWithShape="1">
          <a:blip r:embed="rId6"/>
          <a:srcRect l="5741" t="19048" r="1117" b="40000"/>
          <a:stretch/>
        </p:blipFill>
        <p:spPr>
          <a:xfrm>
            <a:off x="3066550" y="1874890"/>
            <a:ext cx="9125451" cy="4041269"/>
          </a:xfrm>
          <a:prstGeom prst="rect">
            <a:avLst/>
          </a:prstGeom>
        </p:spPr>
      </p:pic>
      <p:sp>
        <p:nvSpPr>
          <p:cNvPr id="18" name="Rectangle 17">
            <a:extLst>
              <a:ext uri="{FF2B5EF4-FFF2-40B4-BE49-F238E27FC236}">
                <a16:creationId xmlns:a16="http://schemas.microsoft.com/office/drawing/2014/main" id="{540E185F-F4AA-119E-C392-503FEDED989E}"/>
              </a:ext>
            </a:extLst>
          </p:cNvPr>
          <p:cNvSpPr/>
          <p:nvPr/>
        </p:nvSpPr>
        <p:spPr>
          <a:xfrm>
            <a:off x="4506686" y="3429000"/>
            <a:ext cx="6456783" cy="1162683"/>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4EAC4F0A-853D-78BD-EFE1-B926C394758A}"/>
              </a:ext>
            </a:extLst>
          </p:cNvPr>
          <p:cNvSpPr/>
          <p:nvPr/>
        </p:nvSpPr>
        <p:spPr>
          <a:xfrm>
            <a:off x="3143410" y="2423493"/>
            <a:ext cx="2789678" cy="3112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Select Clinic</a:t>
            </a:r>
            <a:endParaRPr lang="en-US" dirty="0"/>
          </a:p>
        </p:txBody>
      </p:sp>
      <p:sp>
        <p:nvSpPr>
          <p:cNvPr id="20" name="Isosceles Triangle 19">
            <a:extLst>
              <a:ext uri="{FF2B5EF4-FFF2-40B4-BE49-F238E27FC236}">
                <a16:creationId xmlns:a16="http://schemas.microsoft.com/office/drawing/2014/main" id="{8B815434-7902-E7E9-8F98-909ECB6741C5}"/>
              </a:ext>
            </a:extLst>
          </p:cNvPr>
          <p:cNvSpPr/>
          <p:nvPr/>
        </p:nvSpPr>
        <p:spPr>
          <a:xfrm flipV="1">
            <a:off x="5579706" y="2539411"/>
            <a:ext cx="139959" cy="1505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6E4D0291-33E4-E462-0988-2C17CA567D2C}"/>
              </a:ext>
            </a:extLst>
          </p:cNvPr>
          <p:cNvSpPr/>
          <p:nvPr/>
        </p:nvSpPr>
        <p:spPr>
          <a:xfrm>
            <a:off x="3165178" y="2837145"/>
            <a:ext cx="2789678" cy="3112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t>Select Client</a:t>
            </a:r>
            <a:endParaRPr lang="en-US" dirty="0"/>
          </a:p>
        </p:txBody>
      </p:sp>
      <p:sp>
        <p:nvSpPr>
          <p:cNvPr id="28" name="Isosceles Triangle 27">
            <a:extLst>
              <a:ext uri="{FF2B5EF4-FFF2-40B4-BE49-F238E27FC236}">
                <a16:creationId xmlns:a16="http://schemas.microsoft.com/office/drawing/2014/main" id="{513DF4A5-DC52-FA40-9865-C180353E6F38}"/>
              </a:ext>
            </a:extLst>
          </p:cNvPr>
          <p:cNvSpPr/>
          <p:nvPr/>
        </p:nvSpPr>
        <p:spPr>
          <a:xfrm flipV="1">
            <a:off x="5601474" y="2953063"/>
            <a:ext cx="139959" cy="15050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60F0D850-90BF-0CE7-3D09-60E9D14C5F96}"/>
              </a:ext>
            </a:extLst>
          </p:cNvPr>
          <p:cNvSpPr/>
          <p:nvPr/>
        </p:nvSpPr>
        <p:spPr>
          <a:xfrm>
            <a:off x="3657600" y="3787755"/>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Select All or Date to Date</a:t>
            </a:r>
            <a:endParaRPr lang="en-US" dirty="0"/>
          </a:p>
        </p:txBody>
      </p:sp>
      <p:sp>
        <p:nvSpPr>
          <p:cNvPr id="30" name="Rectangle 29">
            <a:extLst>
              <a:ext uri="{FF2B5EF4-FFF2-40B4-BE49-F238E27FC236}">
                <a16:creationId xmlns:a16="http://schemas.microsoft.com/office/drawing/2014/main" id="{417FAAD8-6C0D-AF05-3F04-649207CBFD92}"/>
              </a:ext>
            </a:extLst>
          </p:cNvPr>
          <p:cNvSpPr/>
          <p:nvPr/>
        </p:nvSpPr>
        <p:spPr>
          <a:xfrm>
            <a:off x="6366909" y="3791955"/>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Date From</a:t>
            </a:r>
            <a:endParaRPr lang="en-US" dirty="0"/>
          </a:p>
        </p:txBody>
      </p:sp>
      <p:sp>
        <p:nvSpPr>
          <p:cNvPr id="31" name="Rectangle 30">
            <a:extLst>
              <a:ext uri="{FF2B5EF4-FFF2-40B4-BE49-F238E27FC236}">
                <a16:creationId xmlns:a16="http://schemas.microsoft.com/office/drawing/2014/main" id="{EC7E9FA5-56C7-4F43-B734-4AAA426771FE}"/>
              </a:ext>
            </a:extLst>
          </p:cNvPr>
          <p:cNvSpPr/>
          <p:nvPr/>
        </p:nvSpPr>
        <p:spPr>
          <a:xfrm>
            <a:off x="9121883" y="3792016"/>
            <a:ext cx="2481600" cy="32291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Date to</a:t>
            </a:r>
            <a:endParaRPr lang="en-US" dirty="0"/>
          </a:p>
        </p:txBody>
      </p:sp>
      <p:sp>
        <p:nvSpPr>
          <p:cNvPr id="32" name="Rectangle 31">
            <a:extLst>
              <a:ext uri="{FF2B5EF4-FFF2-40B4-BE49-F238E27FC236}">
                <a16:creationId xmlns:a16="http://schemas.microsoft.com/office/drawing/2014/main" id="{D5482C3B-F963-9FF6-ACCE-F62C731491F1}"/>
              </a:ext>
            </a:extLst>
          </p:cNvPr>
          <p:cNvSpPr/>
          <p:nvPr/>
        </p:nvSpPr>
        <p:spPr>
          <a:xfrm>
            <a:off x="6366909" y="4361682"/>
            <a:ext cx="2481600" cy="23000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Search</a:t>
            </a:r>
          </a:p>
        </p:txBody>
      </p:sp>
      <p:sp>
        <p:nvSpPr>
          <p:cNvPr id="3" name="Rectangle 2">
            <a:extLst>
              <a:ext uri="{FF2B5EF4-FFF2-40B4-BE49-F238E27FC236}">
                <a16:creationId xmlns:a16="http://schemas.microsoft.com/office/drawing/2014/main" id="{6508AE85-16F6-35A7-204A-0DC903B28FCB}"/>
              </a:ext>
            </a:extLst>
          </p:cNvPr>
          <p:cNvSpPr/>
          <p:nvPr/>
        </p:nvSpPr>
        <p:spPr>
          <a:xfrm>
            <a:off x="6857999" y="1978090"/>
            <a:ext cx="1539551" cy="2332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a:solidFill>
                  <a:schemeClr val="bg1"/>
                </a:solidFill>
              </a:rPr>
              <a:t>Search Invoice</a:t>
            </a:r>
          </a:p>
        </p:txBody>
      </p:sp>
    </p:spTree>
    <p:extLst>
      <p:ext uri="{BB962C8B-B14F-4D97-AF65-F5344CB8AC3E}">
        <p14:creationId xmlns:p14="http://schemas.microsoft.com/office/powerpoint/2010/main" val="385346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Invoice View and print</a:t>
            </a:r>
            <a:br>
              <a:rPr lang="en-US" dirty="0">
                <a:latin typeface="Bahnschrift Condensed" panose="020B0502040204020203" pitchFamily="34" charset="0"/>
              </a:rPr>
            </a:br>
            <a:r>
              <a:rPr lang="en-US" sz="1800" cap="none" dirty="0">
                <a:latin typeface="Bahnschrift Condensed" panose="020B0502040204020203" pitchFamily="34" charset="0"/>
              </a:rPr>
              <a:t>(The view of the invoice that should be linked to respective report and order list.</a:t>
            </a:r>
            <a:br>
              <a:rPr lang="en-US" sz="1800" cap="none" dirty="0">
                <a:latin typeface="Bahnschrift Condensed" panose="020B0502040204020203" pitchFamily="34" charset="0"/>
              </a:rPr>
            </a:br>
            <a:r>
              <a:rPr lang="en-US" sz="1800" cap="none" dirty="0">
                <a:latin typeface="Bahnschrift Condensed" panose="020B0502040204020203" pitchFamily="34" charset="0"/>
              </a:rPr>
              <a:t>Should be linked with the Client report section as well.)</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13692"/>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41405"/>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2972571"/>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15439"/>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10345"/>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a:p>
            <a:pPr algn="ctr"/>
            <a:r>
              <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rPr>
              <a:t>(Invoice View and Print)</a:t>
            </a:r>
            <a:endParaRPr lang="en-US" sz="36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395883"/>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11665"/>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22043" y="4731168"/>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119E346-6E61-163F-A4EA-D363FB2EE8CF}"/>
              </a:ext>
            </a:extLst>
          </p:cNvPr>
          <p:cNvPicPr>
            <a:picLocks noChangeAspect="1"/>
          </p:cNvPicPr>
          <p:nvPr/>
        </p:nvPicPr>
        <p:blipFill rotWithShape="1">
          <a:blip r:embed="rId6"/>
          <a:srcRect l="23135" t="21911" r="9238" b="9440"/>
          <a:stretch/>
        </p:blipFill>
        <p:spPr>
          <a:xfrm>
            <a:off x="3076069" y="1765314"/>
            <a:ext cx="9106600" cy="5080452"/>
          </a:xfrm>
          <a:prstGeom prst="rect">
            <a:avLst/>
          </a:prstGeom>
        </p:spPr>
      </p:pic>
    </p:spTree>
    <p:extLst>
      <p:ext uri="{BB962C8B-B14F-4D97-AF65-F5344CB8AC3E}">
        <p14:creationId xmlns:p14="http://schemas.microsoft.com/office/powerpoint/2010/main" val="574471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Work status wise summary</a:t>
            </a:r>
            <a:br>
              <a:rPr lang="en-US" dirty="0">
                <a:latin typeface="Bahnschrift Condensed" panose="020B0502040204020203" pitchFamily="34" charset="0"/>
              </a:rPr>
            </a:br>
            <a:r>
              <a:rPr lang="en-US" sz="1800" cap="none" dirty="0">
                <a:latin typeface="Bahnschrift Condensed" panose="020B0502040204020203" pitchFamily="34" charset="0"/>
              </a:rPr>
              <a:t>(The view of the invoice that should be linked to respective report and order list.</a:t>
            </a:r>
            <a:br>
              <a:rPr lang="en-US" sz="1800" cap="none" dirty="0">
                <a:latin typeface="Bahnschrift Condensed" panose="020B0502040204020203" pitchFamily="34" charset="0"/>
              </a:rPr>
            </a:br>
            <a:r>
              <a:rPr lang="en-US" sz="1800" cap="none" dirty="0">
                <a:latin typeface="Bahnschrift Condensed" panose="020B0502040204020203" pitchFamily="34" charset="0"/>
              </a:rPr>
              <a:t>Should be linked with the Client report section as well.)</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(Work Status Wise Summary)</a:t>
            </a:r>
            <a:endParaRPr lang="en-US" sz="3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67382" y="5537551"/>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1D69D3DF-DB65-99E3-3E50-0BF236AD70F0}"/>
              </a:ext>
            </a:extLst>
          </p:cNvPr>
          <p:cNvPicPr>
            <a:picLocks noChangeAspect="1"/>
          </p:cNvPicPr>
          <p:nvPr/>
        </p:nvPicPr>
        <p:blipFill rotWithShape="1">
          <a:blip r:embed="rId6"/>
          <a:srcRect l="5127" t="20136" r="2272" b="18095"/>
          <a:stretch/>
        </p:blipFill>
        <p:spPr>
          <a:xfrm>
            <a:off x="3066550" y="1783974"/>
            <a:ext cx="9125450" cy="5097657"/>
          </a:xfrm>
          <a:prstGeom prst="rect">
            <a:avLst/>
          </a:prstGeom>
        </p:spPr>
      </p:pic>
      <p:sp>
        <p:nvSpPr>
          <p:cNvPr id="7" name="Rectangle 6">
            <a:extLst>
              <a:ext uri="{FF2B5EF4-FFF2-40B4-BE49-F238E27FC236}">
                <a16:creationId xmlns:a16="http://schemas.microsoft.com/office/drawing/2014/main" id="{2D021CB6-C8BA-E742-2EA1-916440E055CB}"/>
              </a:ext>
            </a:extLst>
          </p:cNvPr>
          <p:cNvSpPr/>
          <p:nvPr/>
        </p:nvSpPr>
        <p:spPr>
          <a:xfrm>
            <a:off x="6139200" y="2322502"/>
            <a:ext cx="5981265" cy="85923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37D0A580-FA69-807C-F199-D164001FE810}"/>
              </a:ext>
            </a:extLst>
          </p:cNvPr>
          <p:cNvSpPr/>
          <p:nvPr/>
        </p:nvSpPr>
        <p:spPr>
          <a:xfrm>
            <a:off x="6307494" y="2603240"/>
            <a:ext cx="2976465" cy="378662"/>
          </a:xfrm>
          <a:prstGeom prst="rect">
            <a:avLst/>
          </a:prstGeom>
          <a:ln>
            <a:solidFill>
              <a:schemeClr val="tx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1400" dirty="0"/>
              <a:t>Select Work Status</a:t>
            </a:r>
            <a:endParaRPr lang="en-US" dirty="0"/>
          </a:p>
        </p:txBody>
      </p:sp>
      <p:sp>
        <p:nvSpPr>
          <p:cNvPr id="9" name="Isosceles Triangle 8">
            <a:extLst>
              <a:ext uri="{FF2B5EF4-FFF2-40B4-BE49-F238E27FC236}">
                <a16:creationId xmlns:a16="http://schemas.microsoft.com/office/drawing/2014/main" id="{A6D68351-DD5C-FC7E-2533-7B26D81104CF}"/>
              </a:ext>
            </a:extLst>
          </p:cNvPr>
          <p:cNvSpPr/>
          <p:nvPr/>
        </p:nvSpPr>
        <p:spPr>
          <a:xfrm flipV="1">
            <a:off x="8976049" y="2743198"/>
            <a:ext cx="65314" cy="111968"/>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TextBox 9">
            <a:extLst>
              <a:ext uri="{FF2B5EF4-FFF2-40B4-BE49-F238E27FC236}">
                <a16:creationId xmlns:a16="http://schemas.microsoft.com/office/drawing/2014/main" id="{2A4D577C-1D3B-4436-8411-699260737368}"/>
              </a:ext>
            </a:extLst>
          </p:cNvPr>
          <p:cNvSpPr txBox="1"/>
          <p:nvPr/>
        </p:nvSpPr>
        <p:spPr>
          <a:xfrm>
            <a:off x="6279501" y="2356748"/>
            <a:ext cx="1856792" cy="276999"/>
          </a:xfrm>
          <a:prstGeom prst="rect">
            <a:avLst/>
          </a:prstGeom>
          <a:noFill/>
        </p:spPr>
        <p:txBody>
          <a:bodyPr wrap="square" rtlCol="0">
            <a:spAutoFit/>
          </a:bodyPr>
          <a:lstStyle/>
          <a:p>
            <a:r>
              <a:rPr lang="en-US" sz="1200" dirty="0">
                <a:solidFill>
                  <a:schemeClr val="bg1"/>
                </a:solidFill>
              </a:rPr>
              <a:t>Select Status</a:t>
            </a:r>
          </a:p>
        </p:txBody>
      </p:sp>
    </p:spTree>
    <p:extLst>
      <p:ext uri="{BB962C8B-B14F-4D97-AF65-F5344CB8AC3E}">
        <p14:creationId xmlns:p14="http://schemas.microsoft.com/office/powerpoint/2010/main" val="3247533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Work wise summary report view</a:t>
            </a:r>
            <a:br>
              <a:rPr lang="en-US" dirty="0">
                <a:latin typeface="Bahnschrift Condensed" panose="020B0502040204020203" pitchFamily="34" charset="0"/>
              </a:rPr>
            </a:br>
            <a:r>
              <a:rPr lang="en-US" sz="1800" cap="none" dirty="0">
                <a:latin typeface="Bahnschrift Condensed" panose="020B0502040204020203" pitchFamily="34" charset="0"/>
              </a:rPr>
              <a:t>(The view of the invoice that should be linked to respective report and order list.</a:t>
            </a:r>
            <a:br>
              <a:rPr lang="en-US" sz="1800" cap="none" dirty="0">
                <a:latin typeface="Bahnschrift Condensed" panose="020B0502040204020203" pitchFamily="34" charset="0"/>
              </a:rPr>
            </a:br>
            <a:r>
              <a:rPr lang="en-US" sz="1800" cap="none" dirty="0">
                <a:latin typeface="Bahnschrift Condensed" panose="020B0502040204020203" pitchFamily="34" charset="0"/>
              </a:rPr>
              <a:t>Should be linked with the Client report section as well.)</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(Work Wise Summary View)</a:t>
            </a:r>
            <a:endParaRPr lang="en-US" sz="4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5524270"/>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06B208C-6B4E-E746-24D0-AC6C76B70723}"/>
              </a:ext>
            </a:extLst>
          </p:cNvPr>
          <p:cNvPicPr>
            <a:picLocks noChangeAspect="1"/>
          </p:cNvPicPr>
          <p:nvPr/>
        </p:nvPicPr>
        <p:blipFill rotWithShape="1">
          <a:blip r:embed="rId6"/>
          <a:srcRect l="1453" t="13734" r="1451" b="7892"/>
          <a:stretch/>
        </p:blipFill>
        <p:spPr>
          <a:xfrm>
            <a:off x="3099432" y="1765313"/>
            <a:ext cx="9083544" cy="5108445"/>
          </a:xfrm>
          <a:prstGeom prst="rect">
            <a:avLst/>
          </a:prstGeom>
        </p:spPr>
      </p:pic>
    </p:spTree>
    <p:extLst>
      <p:ext uri="{BB962C8B-B14F-4D97-AF65-F5344CB8AC3E}">
        <p14:creationId xmlns:p14="http://schemas.microsoft.com/office/powerpoint/2010/main" val="3684253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Work status wise summary report view</a:t>
            </a:r>
            <a:br>
              <a:rPr lang="en-US" dirty="0">
                <a:latin typeface="Bahnschrift Condensed" panose="020B0502040204020203" pitchFamily="34" charset="0"/>
              </a:rPr>
            </a:br>
            <a:r>
              <a:rPr lang="en-US" sz="1800" cap="none" dirty="0">
                <a:latin typeface="Bahnschrift Condensed" panose="020B0502040204020203" pitchFamily="34" charset="0"/>
              </a:rPr>
              <a:t>(The view of the invoice that should be linked to respective report and order list.</a:t>
            </a:r>
            <a:br>
              <a:rPr lang="en-US" sz="1800" cap="none" dirty="0">
                <a:latin typeface="Bahnschrift Condensed" panose="020B0502040204020203" pitchFamily="34" charset="0"/>
              </a:rPr>
            </a:br>
            <a:r>
              <a:rPr lang="en-US" sz="1800" cap="none" dirty="0">
                <a:latin typeface="Bahnschrift Condensed" panose="020B0502040204020203" pitchFamily="34" charset="0"/>
              </a:rPr>
              <a:t>Should be linked with the Client report section as well.)</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a:p>
            <a:pPr algn="ctr"/>
            <a:r>
              <a:rPr lang="en-US" sz="1400" dirty="0">
                <a:solidFill>
                  <a:srgbClr val="FF0000"/>
                </a:solidFill>
                <a:latin typeface="Calibri" panose="020F0502020204030204" pitchFamily="34" charset="0"/>
                <a:ea typeface="Calibri" panose="020F0502020204030204" pitchFamily="34" charset="0"/>
                <a:cs typeface="Times New Roman" panose="02020603050405020304" pitchFamily="18" charset="0"/>
              </a:rPr>
              <a:t>(Work Status Wise Summary View)</a:t>
            </a:r>
            <a:endParaRPr lang="en-US" sz="4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5524270"/>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5A46F8B3-CE34-FDCC-7FE6-82D3F505AAF2}"/>
              </a:ext>
            </a:extLst>
          </p:cNvPr>
          <p:cNvPicPr>
            <a:picLocks noChangeAspect="1"/>
          </p:cNvPicPr>
          <p:nvPr/>
        </p:nvPicPr>
        <p:blipFill rotWithShape="1">
          <a:blip r:embed="rId6"/>
          <a:srcRect l="888" t="12517" r="1452" b="9016"/>
          <a:stretch/>
        </p:blipFill>
        <p:spPr>
          <a:xfrm>
            <a:off x="3066550" y="1765313"/>
            <a:ext cx="9143407" cy="5092687"/>
          </a:xfrm>
          <a:prstGeom prst="rect">
            <a:avLst/>
          </a:prstGeom>
        </p:spPr>
      </p:pic>
    </p:spTree>
    <p:extLst>
      <p:ext uri="{BB962C8B-B14F-4D97-AF65-F5344CB8AC3E}">
        <p14:creationId xmlns:p14="http://schemas.microsoft.com/office/powerpoint/2010/main" val="1459960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Invoice summary</a:t>
            </a:r>
            <a:br>
              <a:rPr lang="en-US" dirty="0">
                <a:latin typeface="Bahnschrift Condensed" panose="020B0502040204020203" pitchFamily="34" charset="0"/>
              </a:rPr>
            </a:br>
            <a:r>
              <a:rPr lang="en-US" sz="1800" cap="none" dirty="0">
                <a:latin typeface="Bahnschrift Condensed" panose="020B0502040204020203" pitchFamily="34" charset="0"/>
              </a:rPr>
              <a:t>(The view of the invoice that should be linked to respective report and order list.</a:t>
            </a:r>
            <a:br>
              <a:rPr lang="en-US" sz="1800" cap="none" dirty="0">
                <a:latin typeface="Bahnschrift Condensed" panose="020B0502040204020203" pitchFamily="34" charset="0"/>
              </a:rPr>
            </a:br>
            <a:r>
              <a:rPr lang="en-US" sz="1800" cap="none" dirty="0">
                <a:latin typeface="Bahnschrift Condensed" panose="020B0502040204020203" pitchFamily="34" charset="0"/>
              </a:rPr>
              <a:t>Should be linked with the Client report section as well.)</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a:p>
            <a:pPr algn="ct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(Order and Delivery View)</a:t>
            </a:r>
            <a:endParaRPr lang="en-US" sz="4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40705" y="5524270"/>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F908F163-8A3D-03BD-F290-60BA8BAC98C5}"/>
              </a:ext>
            </a:extLst>
          </p:cNvPr>
          <p:cNvPicPr>
            <a:picLocks noChangeAspect="1"/>
          </p:cNvPicPr>
          <p:nvPr/>
        </p:nvPicPr>
        <p:blipFill rotWithShape="1">
          <a:blip r:embed="rId6"/>
          <a:srcRect l="5127" t="20136" r="2272" b="18095"/>
          <a:stretch/>
        </p:blipFill>
        <p:spPr>
          <a:xfrm>
            <a:off x="3066550" y="1776101"/>
            <a:ext cx="9125450" cy="5097657"/>
          </a:xfrm>
          <a:prstGeom prst="rect">
            <a:avLst/>
          </a:prstGeom>
        </p:spPr>
      </p:pic>
      <p:sp>
        <p:nvSpPr>
          <p:cNvPr id="3" name="Rectangle 2">
            <a:extLst>
              <a:ext uri="{FF2B5EF4-FFF2-40B4-BE49-F238E27FC236}">
                <a16:creationId xmlns:a16="http://schemas.microsoft.com/office/drawing/2014/main" id="{0FD68D2F-770E-8B74-64DB-F3F4538D32D2}"/>
              </a:ext>
            </a:extLst>
          </p:cNvPr>
          <p:cNvSpPr/>
          <p:nvPr/>
        </p:nvSpPr>
        <p:spPr>
          <a:xfrm>
            <a:off x="6242180" y="2341984"/>
            <a:ext cx="5878285" cy="86774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E28F63A7-694E-616B-80C8-C90E362B7BB2}"/>
              </a:ext>
            </a:extLst>
          </p:cNvPr>
          <p:cNvSpPr/>
          <p:nvPr/>
        </p:nvSpPr>
        <p:spPr>
          <a:xfrm>
            <a:off x="6428792" y="2603240"/>
            <a:ext cx="2799184" cy="378662"/>
          </a:xfrm>
          <a:prstGeom prst="rect">
            <a:avLst/>
          </a:prstGeom>
          <a:ln>
            <a:solidFill>
              <a:schemeClr val="tx2">
                <a:lumMod val="90000"/>
              </a:schemeClr>
            </a:solidFill>
          </a:ln>
        </p:spPr>
        <p:style>
          <a:lnRef idx="2">
            <a:schemeClr val="dk1"/>
          </a:lnRef>
          <a:fillRef idx="1">
            <a:schemeClr val="lt1"/>
          </a:fillRef>
          <a:effectRef idx="0">
            <a:schemeClr val="dk1"/>
          </a:effectRef>
          <a:fontRef idx="minor">
            <a:schemeClr val="dk1"/>
          </a:fontRef>
        </p:style>
        <p:txBody>
          <a:bodyPr rtlCol="0" anchor="ctr"/>
          <a:lstStyle/>
          <a:p>
            <a:r>
              <a:rPr lang="en-US" sz="1400" dirty="0"/>
              <a:t>Select Status</a:t>
            </a:r>
            <a:endParaRPr lang="en-US" dirty="0"/>
          </a:p>
        </p:txBody>
      </p:sp>
      <p:sp>
        <p:nvSpPr>
          <p:cNvPr id="7" name="Isosceles Triangle 6">
            <a:extLst>
              <a:ext uri="{FF2B5EF4-FFF2-40B4-BE49-F238E27FC236}">
                <a16:creationId xmlns:a16="http://schemas.microsoft.com/office/drawing/2014/main" id="{923FD0EC-10AD-93C3-DB17-4FA1AE755314}"/>
              </a:ext>
            </a:extLst>
          </p:cNvPr>
          <p:cNvSpPr/>
          <p:nvPr/>
        </p:nvSpPr>
        <p:spPr>
          <a:xfrm flipV="1">
            <a:off x="8910735" y="2703554"/>
            <a:ext cx="139959" cy="142283"/>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989100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payment summary</a:t>
            </a:r>
            <a:br>
              <a:rPr lang="en-US" dirty="0">
                <a:latin typeface="Bahnschrift Condensed" panose="020B0502040204020203" pitchFamily="34" charset="0"/>
              </a:rPr>
            </a:br>
            <a:r>
              <a:rPr lang="en-US" sz="1600" cap="none" dirty="0">
                <a:latin typeface="Bahnschrift Condensed" panose="020B0502040204020203" pitchFamily="34" charset="0"/>
              </a:rPr>
              <a:t>(The summary of the payment will be displayed upon selection of all payment or individual client wise)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p>
          <a:p>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(Payment Summary)</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11939" y="635287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69103008-9C41-CFF8-96D0-10BDE13ACD0B}"/>
              </a:ext>
            </a:extLst>
          </p:cNvPr>
          <p:cNvPicPr>
            <a:picLocks noChangeAspect="1"/>
          </p:cNvPicPr>
          <p:nvPr/>
        </p:nvPicPr>
        <p:blipFill rotWithShape="1">
          <a:blip r:embed="rId6"/>
          <a:srcRect l="4745" t="18095" b="27892"/>
          <a:stretch/>
        </p:blipFill>
        <p:spPr>
          <a:xfrm>
            <a:off x="3066550" y="2703553"/>
            <a:ext cx="9125450" cy="4154447"/>
          </a:xfrm>
          <a:prstGeom prst="rect">
            <a:avLst/>
          </a:prstGeom>
        </p:spPr>
      </p:pic>
      <p:sp>
        <p:nvSpPr>
          <p:cNvPr id="5" name="Rectangle 4">
            <a:extLst>
              <a:ext uri="{FF2B5EF4-FFF2-40B4-BE49-F238E27FC236}">
                <a16:creationId xmlns:a16="http://schemas.microsoft.com/office/drawing/2014/main" id="{9F428362-8E21-AA83-EDEB-FC747B91F4C3}"/>
              </a:ext>
            </a:extLst>
          </p:cNvPr>
          <p:cNvSpPr/>
          <p:nvPr/>
        </p:nvSpPr>
        <p:spPr>
          <a:xfrm>
            <a:off x="3066550" y="1765313"/>
            <a:ext cx="9125449" cy="134178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t>Payment Status</a:t>
            </a:r>
          </a:p>
          <a:p>
            <a:pPr algn="ctr"/>
            <a:endParaRPr lang="en-US" b="1" dirty="0"/>
          </a:p>
        </p:txBody>
      </p:sp>
      <p:sp>
        <p:nvSpPr>
          <p:cNvPr id="7" name="Rectangle 6">
            <a:extLst>
              <a:ext uri="{FF2B5EF4-FFF2-40B4-BE49-F238E27FC236}">
                <a16:creationId xmlns:a16="http://schemas.microsoft.com/office/drawing/2014/main" id="{EF027184-D937-0A39-9BA6-30FBD674CA54}"/>
              </a:ext>
            </a:extLst>
          </p:cNvPr>
          <p:cNvSpPr/>
          <p:nvPr/>
        </p:nvSpPr>
        <p:spPr>
          <a:xfrm>
            <a:off x="5007850" y="2550076"/>
            <a:ext cx="2509935" cy="3548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All Payment </a:t>
            </a:r>
          </a:p>
        </p:txBody>
      </p:sp>
      <p:sp>
        <p:nvSpPr>
          <p:cNvPr id="18" name="Rectangle 17">
            <a:extLst>
              <a:ext uri="{FF2B5EF4-FFF2-40B4-BE49-F238E27FC236}">
                <a16:creationId xmlns:a16="http://schemas.microsoft.com/office/drawing/2014/main" id="{C0E42CDC-A9DD-48E3-3DC9-89C96640119F}"/>
              </a:ext>
            </a:extLst>
          </p:cNvPr>
          <p:cNvSpPr/>
          <p:nvPr/>
        </p:nvSpPr>
        <p:spPr>
          <a:xfrm>
            <a:off x="7850152" y="2550076"/>
            <a:ext cx="2509935" cy="3548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Select Client</a:t>
            </a:r>
          </a:p>
        </p:txBody>
      </p:sp>
    </p:spTree>
    <p:extLst>
      <p:ext uri="{BB962C8B-B14F-4D97-AF65-F5344CB8AC3E}">
        <p14:creationId xmlns:p14="http://schemas.microsoft.com/office/powerpoint/2010/main" val="1143317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payment summary all payment view</a:t>
            </a:r>
            <a:br>
              <a:rPr lang="en-US" dirty="0">
                <a:latin typeface="Bahnschrift Condensed" panose="020B0502040204020203" pitchFamily="34" charset="0"/>
              </a:rPr>
            </a:br>
            <a:r>
              <a:rPr lang="en-US" sz="1600" cap="none" dirty="0">
                <a:latin typeface="Bahnschrift Condensed" panose="020B0502040204020203" pitchFamily="34" charset="0"/>
              </a:rPr>
              <a:t>(The summary of the payment will be displayed upon selection of all payment or individual client)</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p>
          <a:p>
            <a:r>
              <a:rPr lang="en-US" sz="12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(Payment Summary All Payment View</a:t>
            </a: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11939" y="635287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C6A02E7A-77EA-A12E-5F1E-2A2E0A63D104}"/>
              </a:ext>
            </a:extLst>
          </p:cNvPr>
          <p:cNvPicPr>
            <a:picLocks noChangeAspect="1"/>
          </p:cNvPicPr>
          <p:nvPr/>
        </p:nvPicPr>
        <p:blipFill rotWithShape="1">
          <a:blip r:embed="rId6"/>
          <a:srcRect l="888" t="12381" r="1452" b="7365"/>
          <a:stretch/>
        </p:blipFill>
        <p:spPr>
          <a:xfrm>
            <a:off x="3076021" y="1765312"/>
            <a:ext cx="9106600" cy="5092687"/>
          </a:xfrm>
          <a:prstGeom prst="rect">
            <a:avLst/>
          </a:prstGeom>
        </p:spPr>
      </p:pic>
    </p:spTree>
    <p:extLst>
      <p:ext uri="{BB962C8B-B14F-4D97-AF65-F5344CB8AC3E}">
        <p14:creationId xmlns:p14="http://schemas.microsoft.com/office/powerpoint/2010/main" val="3132934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payment summary client wise view</a:t>
            </a:r>
            <a:br>
              <a:rPr lang="en-US" dirty="0">
                <a:latin typeface="Bahnschrift Condensed" panose="020B0502040204020203" pitchFamily="34" charset="0"/>
              </a:rPr>
            </a:br>
            <a:r>
              <a:rPr lang="en-US" sz="1600" cap="none" dirty="0">
                <a:latin typeface="Bahnschrift Condensed" panose="020B0502040204020203" pitchFamily="34" charset="0"/>
              </a:rPr>
              <a:t>(This will be the view for the individual client payment summary)</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Accounts</a:t>
            </a: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Order</a:t>
            </a: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b="1" dirty="0"/>
              <a:t>Setting</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Client Report</a:t>
            </a: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dirty="0">
                <a:effectLst/>
                <a:latin typeface="Calibri" panose="020F0502020204030204" pitchFamily="34" charset="0"/>
                <a:ea typeface="Calibri" panose="020F0502020204030204" pitchFamily="34" charset="0"/>
                <a:cs typeface="Times New Roman" panose="02020603050405020304" pitchFamily="18" charset="0"/>
              </a:rPr>
              <a:t>Work Report</a:t>
            </a: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r>
              <a:rPr lang="en-US" sz="2400" dirty="0">
                <a:latin typeface="Calibri" panose="020F0502020204030204" pitchFamily="34" charset="0"/>
                <a:ea typeface="Calibri" panose="020F0502020204030204" pitchFamily="34" charset="0"/>
                <a:cs typeface="Times New Roman" panose="02020603050405020304" pitchFamily="18" charset="0"/>
              </a:rPr>
              <a:t>Account Report</a:t>
            </a:r>
          </a:p>
          <a:p>
            <a:r>
              <a:rPr lang="en-US" sz="1200"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(Payment Summary Client Wise view</a:t>
            </a:r>
            <a:r>
              <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Arrow: Right 26">
            <a:extLst>
              <a:ext uri="{FF2B5EF4-FFF2-40B4-BE49-F238E27FC236}">
                <a16:creationId xmlns:a16="http://schemas.microsoft.com/office/drawing/2014/main" id="{3EC0EC0B-A432-0EB2-0CEE-E8ED7EF0E5FC}"/>
              </a:ext>
            </a:extLst>
          </p:cNvPr>
          <p:cNvSpPr/>
          <p:nvPr/>
        </p:nvSpPr>
        <p:spPr>
          <a:xfrm>
            <a:off x="2311939" y="6352873"/>
            <a:ext cx="692409" cy="2485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C6A02E7A-77EA-A12E-5F1E-2A2E0A63D104}"/>
              </a:ext>
            </a:extLst>
          </p:cNvPr>
          <p:cNvPicPr>
            <a:picLocks noChangeAspect="1"/>
          </p:cNvPicPr>
          <p:nvPr/>
        </p:nvPicPr>
        <p:blipFill rotWithShape="1">
          <a:blip r:embed="rId6"/>
          <a:srcRect l="888" t="12381" r="1452" b="7365"/>
          <a:stretch/>
        </p:blipFill>
        <p:spPr>
          <a:xfrm>
            <a:off x="3076021" y="1765312"/>
            <a:ext cx="9106600" cy="5092687"/>
          </a:xfrm>
          <a:prstGeom prst="rect">
            <a:avLst/>
          </a:prstGeom>
        </p:spPr>
      </p:pic>
      <p:sp>
        <p:nvSpPr>
          <p:cNvPr id="3" name="Rectangle 2">
            <a:extLst>
              <a:ext uri="{FF2B5EF4-FFF2-40B4-BE49-F238E27FC236}">
                <a16:creationId xmlns:a16="http://schemas.microsoft.com/office/drawing/2014/main" id="{24FE2DDB-11BC-13EA-4ED2-2F0A1D5AA773}"/>
              </a:ext>
            </a:extLst>
          </p:cNvPr>
          <p:cNvSpPr/>
          <p:nvPr/>
        </p:nvSpPr>
        <p:spPr>
          <a:xfrm>
            <a:off x="6186197" y="1765313"/>
            <a:ext cx="2603240" cy="3781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chemeClr val="bg1"/>
                </a:solidFill>
              </a:rPr>
              <a:t>Client </a:t>
            </a:r>
            <a:r>
              <a:rPr lang="en-US" sz="1600" dirty="0">
                <a:solidFill>
                  <a:schemeClr val="bg1"/>
                </a:solidFill>
              </a:rPr>
              <a:t>Payment Summary</a:t>
            </a:r>
            <a:endParaRPr lang="en-US" dirty="0">
              <a:solidFill>
                <a:schemeClr val="bg1"/>
              </a:solidFill>
            </a:endParaRPr>
          </a:p>
        </p:txBody>
      </p:sp>
      <p:sp>
        <p:nvSpPr>
          <p:cNvPr id="4" name="Rectangle 3">
            <a:extLst>
              <a:ext uri="{FF2B5EF4-FFF2-40B4-BE49-F238E27FC236}">
                <a16:creationId xmlns:a16="http://schemas.microsoft.com/office/drawing/2014/main" id="{4DEB8487-97C5-A18A-768F-8F765DA83377}"/>
              </a:ext>
            </a:extLst>
          </p:cNvPr>
          <p:cNvSpPr/>
          <p:nvPr/>
        </p:nvSpPr>
        <p:spPr>
          <a:xfrm>
            <a:off x="3072650" y="2638535"/>
            <a:ext cx="1493717" cy="29701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r>
              <a:rPr lang="en-US" sz="1100" dirty="0"/>
              <a:t>Client Name</a:t>
            </a:r>
          </a:p>
          <a:p>
            <a:r>
              <a:rPr lang="en-US" sz="1100" dirty="0"/>
              <a:t>Client ID</a:t>
            </a:r>
          </a:p>
        </p:txBody>
      </p:sp>
      <p:sp>
        <p:nvSpPr>
          <p:cNvPr id="5" name="Rectangle 4">
            <a:extLst>
              <a:ext uri="{FF2B5EF4-FFF2-40B4-BE49-F238E27FC236}">
                <a16:creationId xmlns:a16="http://schemas.microsoft.com/office/drawing/2014/main" id="{B563804D-B6EF-9978-240D-A5712109B55C}"/>
              </a:ext>
            </a:extLst>
          </p:cNvPr>
          <p:cNvSpPr/>
          <p:nvPr/>
        </p:nvSpPr>
        <p:spPr>
          <a:xfrm>
            <a:off x="3809065" y="3246080"/>
            <a:ext cx="921555" cy="15492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5FC6EDCE-4580-5D04-A90F-860BB677A78F}"/>
              </a:ext>
            </a:extLst>
          </p:cNvPr>
          <p:cNvSpPr/>
          <p:nvPr/>
        </p:nvSpPr>
        <p:spPr>
          <a:xfrm>
            <a:off x="3849400" y="3539091"/>
            <a:ext cx="1375870" cy="330024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7082383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Online Chat option view on doctor’s panel</a:t>
            </a:r>
            <a:br>
              <a:rPr lang="en-US" dirty="0">
                <a:latin typeface="Bahnschrift Condensed" panose="020B0502040204020203" pitchFamily="34" charset="0"/>
              </a:rPr>
            </a:br>
            <a:r>
              <a:rPr lang="en-US" sz="1800" cap="none" dirty="0">
                <a:latin typeface="Bahnschrift Condensed" panose="020B0502040204020203" pitchFamily="34" charset="0"/>
              </a:rPr>
              <a:t>(Upon Click Of The Chat Button On The Panel, this chat area will be opened as the first instance.</a:t>
            </a:r>
            <a:br>
              <a:rPr lang="en-US" sz="1800" cap="none" dirty="0">
                <a:latin typeface="Bahnschrift Condensed" panose="020B0502040204020203" pitchFamily="34" charset="0"/>
              </a:rPr>
            </a:br>
            <a:r>
              <a:rPr lang="en-US" sz="1800" cap="none" dirty="0">
                <a:latin typeface="Bahnschrift Condensed" panose="020B0502040204020203" pitchFamily="34" charset="0"/>
              </a:rPr>
              <a:t>Doctor will then click the plus sign to add fields like Upload Image, Upload File)</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354258" y="2143432"/>
            <a:ext cx="2202129"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Chat Box View</a:t>
            </a: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3B920E1C-203C-1BB9-685C-841E7DA87291}"/>
              </a:ext>
            </a:extLst>
          </p:cNvPr>
          <p:cNvPicPr>
            <a:picLocks noChangeAspect="1"/>
          </p:cNvPicPr>
          <p:nvPr/>
        </p:nvPicPr>
        <p:blipFill rotWithShape="1">
          <a:blip r:embed="rId6"/>
          <a:srcRect l="28103" t="19785" r="41451" b="13734"/>
          <a:stretch/>
        </p:blipFill>
        <p:spPr>
          <a:xfrm>
            <a:off x="5579601" y="1848227"/>
            <a:ext cx="4056012" cy="4982002"/>
          </a:xfrm>
          <a:prstGeom prst="rect">
            <a:avLst/>
          </a:prstGeom>
        </p:spPr>
      </p:pic>
      <p:sp>
        <p:nvSpPr>
          <p:cNvPr id="28" name="Arrow: Right 27">
            <a:extLst>
              <a:ext uri="{FF2B5EF4-FFF2-40B4-BE49-F238E27FC236}">
                <a16:creationId xmlns:a16="http://schemas.microsoft.com/office/drawing/2014/main" id="{F914A099-578A-77B8-2F87-AD76CCCBFECA}"/>
              </a:ext>
            </a:extLst>
          </p:cNvPr>
          <p:cNvSpPr/>
          <p:nvPr/>
        </p:nvSpPr>
        <p:spPr>
          <a:xfrm>
            <a:off x="2468315" y="2322851"/>
            <a:ext cx="463160" cy="23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876559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Online Chat option view on doctor’s panel</a:t>
            </a:r>
            <a:br>
              <a:rPr lang="en-US" dirty="0">
                <a:latin typeface="Bahnschrift Condensed" panose="020B0502040204020203" pitchFamily="34" charset="0"/>
              </a:rPr>
            </a:br>
            <a:r>
              <a:rPr lang="en-US" sz="1800" cap="none" dirty="0">
                <a:latin typeface="Bahnschrift Condensed" panose="020B0502040204020203" pitchFamily="34" charset="0"/>
              </a:rPr>
              <a:t>(When the plus sign is clicked, following options will be available for doctor's use.</a:t>
            </a:r>
            <a:br>
              <a:rPr lang="en-US" sz="1800" cap="none" dirty="0">
                <a:latin typeface="Bahnschrift Condensed" panose="020B0502040204020203" pitchFamily="34" charset="0"/>
              </a:rPr>
            </a:br>
            <a:r>
              <a:rPr lang="en-US" sz="1800" cap="none" dirty="0">
                <a:latin typeface="Bahnschrift Condensed" panose="020B0502040204020203" pitchFamily="34" charset="0"/>
              </a:rPr>
              <a:t>Doctor can upload image or upload file according to the requirement)</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71A24F22-8DAB-119B-2929-2DD3843279A8}"/>
              </a:ext>
            </a:extLst>
          </p:cNvPr>
          <p:cNvPicPr>
            <a:picLocks noChangeAspect="1"/>
          </p:cNvPicPr>
          <p:nvPr/>
        </p:nvPicPr>
        <p:blipFill rotWithShape="1">
          <a:blip r:embed="rId6"/>
          <a:srcRect l="22247" t="20071" r="49116" b="13734"/>
          <a:stretch/>
        </p:blipFill>
        <p:spPr>
          <a:xfrm>
            <a:off x="5437239" y="1944467"/>
            <a:ext cx="3682113" cy="4787475"/>
          </a:xfrm>
          <a:prstGeom prst="rect">
            <a:avLst/>
          </a:prstGeom>
        </p:spPr>
      </p:pic>
      <p:sp>
        <p:nvSpPr>
          <p:cNvPr id="15" name="Rectangle 14">
            <a:extLst>
              <a:ext uri="{FF2B5EF4-FFF2-40B4-BE49-F238E27FC236}">
                <a16:creationId xmlns:a16="http://schemas.microsoft.com/office/drawing/2014/main" id="{0F61C656-8B73-C977-4D37-89648EFA5E4E}"/>
              </a:ext>
            </a:extLst>
          </p:cNvPr>
          <p:cNvSpPr/>
          <p:nvPr/>
        </p:nvSpPr>
        <p:spPr>
          <a:xfrm>
            <a:off x="354258" y="2143432"/>
            <a:ext cx="2202129"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Chat Box View</a:t>
            </a:r>
            <a:endParaRPr lang="en-US" b="1" dirty="0"/>
          </a:p>
        </p:txBody>
      </p:sp>
      <p:sp>
        <p:nvSpPr>
          <p:cNvPr id="18" name="Arrow: Right 17">
            <a:extLst>
              <a:ext uri="{FF2B5EF4-FFF2-40B4-BE49-F238E27FC236}">
                <a16:creationId xmlns:a16="http://schemas.microsoft.com/office/drawing/2014/main" id="{B44E097C-DD0B-1EC1-C66A-ADB4C5E022CE}"/>
              </a:ext>
            </a:extLst>
          </p:cNvPr>
          <p:cNvSpPr/>
          <p:nvPr/>
        </p:nvSpPr>
        <p:spPr>
          <a:xfrm>
            <a:off x="2468315" y="2322851"/>
            <a:ext cx="463160" cy="23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17857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fontScale="90000"/>
          </a:bodyPr>
          <a:lstStyle/>
          <a:p>
            <a:pPr algn="ctr"/>
            <a:r>
              <a:rPr lang="en-US" dirty="0">
                <a:latin typeface="Bahnschrift Condensed" panose="020B0502040204020203" pitchFamily="34" charset="0"/>
              </a:rPr>
              <a:t>QR code scan option from smartphone</a:t>
            </a:r>
            <a:br>
              <a:rPr lang="en-US" dirty="0">
                <a:latin typeface="Bahnschrift Condensed" panose="020B0502040204020203" pitchFamily="34" charset="0"/>
              </a:rPr>
            </a:br>
            <a:r>
              <a:rPr lang="en-US" sz="1800" cap="none" dirty="0">
                <a:latin typeface="Bahnschrift Condensed" panose="020B0502040204020203" pitchFamily="34" charset="0"/>
              </a:rPr>
              <a:t>(Will be scanned by the respective departments. Respective QR Code Scan Option Will Be Available For An Order,</a:t>
            </a:r>
            <a:br>
              <a:rPr lang="en-US" sz="1800" cap="none" dirty="0">
                <a:latin typeface="Bahnschrift Condensed" panose="020B0502040204020203" pitchFamily="34" charset="0"/>
              </a:rPr>
            </a:br>
            <a:r>
              <a:rPr lang="en-US" sz="1800" cap="none" dirty="0">
                <a:latin typeface="Bahnschrift Condensed" panose="020B0502040204020203" pitchFamily="34" charset="0"/>
              </a:rPr>
              <a:t>Invoice against an order won’t be available to print unless “Delivered” scan is done.</a:t>
            </a:r>
            <a:br>
              <a:rPr lang="en-US" sz="1800" cap="none" dirty="0">
                <a:latin typeface="Bahnschrift Condensed" panose="020B0502040204020203" pitchFamily="34" charset="0"/>
              </a:rPr>
            </a:br>
            <a:r>
              <a:rPr lang="en-US" sz="1800" cap="none" dirty="0">
                <a:latin typeface="Bahnschrift Condensed" panose="020B0502040204020203" pitchFamily="34" charset="0"/>
              </a:rPr>
              <a:t>QR code scan option must be available through smartphone. Access rule need to be applied for the users of the QR code option.)</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0F61C656-8B73-C977-4D37-89648EFA5E4E}"/>
              </a:ext>
            </a:extLst>
          </p:cNvPr>
          <p:cNvSpPr/>
          <p:nvPr/>
        </p:nvSpPr>
        <p:spPr>
          <a:xfrm>
            <a:off x="159320" y="2143432"/>
            <a:ext cx="2397068"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QR Code System</a:t>
            </a:r>
            <a:endParaRPr lang="en-US" b="1" dirty="0"/>
          </a:p>
        </p:txBody>
      </p:sp>
      <p:sp>
        <p:nvSpPr>
          <p:cNvPr id="18" name="Arrow: Right 17">
            <a:extLst>
              <a:ext uri="{FF2B5EF4-FFF2-40B4-BE49-F238E27FC236}">
                <a16:creationId xmlns:a16="http://schemas.microsoft.com/office/drawing/2014/main" id="{B44E097C-DD0B-1EC1-C66A-ADB4C5E022CE}"/>
              </a:ext>
            </a:extLst>
          </p:cNvPr>
          <p:cNvSpPr/>
          <p:nvPr/>
        </p:nvSpPr>
        <p:spPr>
          <a:xfrm>
            <a:off x="2468315" y="2322851"/>
            <a:ext cx="463160" cy="2335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E711DE4D-A8DF-BF9B-0FE8-1A652B453147}"/>
              </a:ext>
            </a:extLst>
          </p:cNvPr>
          <p:cNvPicPr>
            <a:picLocks noChangeAspect="1"/>
          </p:cNvPicPr>
          <p:nvPr/>
        </p:nvPicPr>
        <p:blipFill rotWithShape="1">
          <a:blip r:embed="rId6"/>
          <a:srcRect l="22247" t="33870" r="25765" b="25741"/>
          <a:stretch/>
        </p:blipFill>
        <p:spPr>
          <a:xfrm>
            <a:off x="3072077" y="1855276"/>
            <a:ext cx="9120709" cy="4989032"/>
          </a:xfrm>
          <a:prstGeom prst="rect">
            <a:avLst/>
          </a:prstGeom>
        </p:spPr>
      </p:pic>
    </p:spTree>
    <p:extLst>
      <p:ext uri="{BB962C8B-B14F-4D97-AF65-F5344CB8AC3E}">
        <p14:creationId xmlns:p14="http://schemas.microsoft.com/office/powerpoint/2010/main" val="40647989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118-D284-F086-508F-6C8451F635B9}"/>
              </a:ext>
            </a:extLst>
          </p:cNvPr>
          <p:cNvSpPr>
            <a:spLocks noGrp="1"/>
          </p:cNvSpPr>
          <p:nvPr>
            <p:ph type="title"/>
          </p:nvPr>
        </p:nvSpPr>
        <p:spPr>
          <a:xfrm>
            <a:off x="2740286" y="256553"/>
            <a:ext cx="9784080" cy="1508760"/>
          </a:xfrm>
        </p:spPr>
        <p:txBody>
          <a:bodyPr>
            <a:normAutofit/>
          </a:bodyPr>
          <a:lstStyle/>
          <a:p>
            <a:pPr algn="ctr"/>
            <a:r>
              <a:rPr lang="en-US" dirty="0">
                <a:latin typeface="Bahnschrift Condensed" panose="020B0502040204020203" pitchFamily="34" charset="0"/>
              </a:rPr>
              <a:t>special notes</a:t>
            </a:r>
            <a:endParaRPr lang="en-US" sz="2200" dirty="0">
              <a:latin typeface="Bahnschrift Condensed" panose="020B0502040204020203" pitchFamily="34" charset="0"/>
            </a:endParaRPr>
          </a:p>
        </p:txBody>
      </p:sp>
      <p:pic>
        <p:nvPicPr>
          <p:cNvPr id="16" name="Picture 15">
            <a:extLst>
              <a:ext uri="{FF2B5EF4-FFF2-40B4-BE49-F238E27FC236}">
                <a16:creationId xmlns:a16="http://schemas.microsoft.com/office/drawing/2014/main" id="{B4450F7C-1988-90B6-0BF6-53692EB7E3A5}"/>
              </a:ext>
            </a:extLst>
          </p:cNvPr>
          <p:cNvPicPr>
            <a:picLocks noChangeAspect="1"/>
          </p:cNvPicPr>
          <p:nvPr/>
        </p:nvPicPr>
        <p:blipFill>
          <a:blip r:embed="rId3"/>
          <a:stretch>
            <a:fillRect/>
          </a:stretch>
        </p:blipFill>
        <p:spPr>
          <a:xfrm>
            <a:off x="0" y="41685"/>
            <a:ext cx="3072650" cy="6832073"/>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F91C96C-A129-E628-8C6C-DA6192FA3B93}"/>
                  </a:ext>
                </a:extLst>
              </p14:cNvPr>
              <p14:cNvContentPartPr/>
              <p14:nvPr/>
            </p14:nvContentPartPr>
            <p14:xfrm>
              <a:off x="1838090" y="4345541"/>
              <a:ext cx="360" cy="360"/>
            </p14:xfrm>
          </p:contentPart>
        </mc:Choice>
        <mc:Fallback xmlns="">
          <p:pic>
            <p:nvPicPr>
              <p:cNvPr id="6" name="Ink 5">
                <a:extLst>
                  <a:ext uri="{FF2B5EF4-FFF2-40B4-BE49-F238E27FC236}">
                    <a16:creationId xmlns:a16="http://schemas.microsoft.com/office/drawing/2014/main" id="{FF91C96C-A129-E628-8C6C-DA6192FA3B93}"/>
                  </a:ext>
                </a:extLst>
              </p:cNvPr>
              <p:cNvPicPr/>
              <p:nvPr/>
            </p:nvPicPr>
            <p:blipFill>
              <a:blip r:embed="rId5"/>
              <a:stretch>
                <a:fillRect/>
              </a:stretch>
            </p:blipFill>
            <p:spPr>
              <a:xfrm>
                <a:off x="1829090" y="4336541"/>
                <a:ext cx="18000" cy="18000"/>
              </a:xfrm>
              <a:prstGeom prst="rect">
                <a:avLst/>
              </a:prstGeom>
            </p:spPr>
          </p:pic>
        </mc:Fallback>
      </mc:AlternateContent>
      <p:sp>
        <p:nvSpPr>
          <p:cNvPr id="17" name="Rectangle 16">
            <a:extLst>
              <a:ext uri="{FF2B5EF4-FFF2-40B4-BE49-F238E27FC236}">
                <a16:creationId xmlns:a16="http://schemas.microsoft.com/office/drawing/2014/main" id="{44B63FE9-75EB-F0FC-EDB3-32D04003EB09}"/>
              </a:ext>
            </a:extLst>
          </p:cNvPr>
          <p:cNvSpPr/>
          <p:nvPr/>
        </p:nvSpPr>
        <p:spPr>
          <a:xfrm>
            <a:off x="176982" y="3869398"/>
            <a:ext cx="2731436"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57E249A0-6DBD-4453-B875-1ED61D001A00}"/>
              </a:ext>
            </a:extLst>
          </p:cNvPr>
          <p:cNvSpPr/>
          <p:nvPr/>
        </p:nvSpPr>
        <p:spPr>
          <a:xfrm>
            <a:off x="354258" y="3000564"/>
            <a:ext cx="2295328" cy="557189"/>
          </a:xfrm>
          <a:prstGeom prst="rect">
            <a:avLst/>
          </a:prstGeom>
          <a:solidFill>
            <a:schemeClr val="tx1"/>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9C55F1AE-9EDF-58EF-2F37-362DBEF34E86}"/>
              </a:ext>
            </a:extLst>
          </p:cNvPr>
          <p:cNvSpPr/>
          <p:nvPr/>
        </p:nvSpPr>
        <p:spPr>
          <a:xfrm>
            <a:off x="776750" y="2143432"/>
            <a:ext cx="1491183" cy="56012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p>
        </p:txBody>
      </p:sp>
      <p:sp>
        <p:nvSpPr>
          <p:cNvPr id="24" name="Rectangle 23">
            <a:extLst>
              <a:ext uri="{FF2B5EF4-FFF2-40B4-BE49-F238E27FC236}">
                <a16:creationId xmlns:a16="http://schemas.microsoft.com/office/drawing/2014/main" id="{6917A9E1-B9D1-1EB6-B7DF-7056E6825412}"/>
              </a:ext>
            </a:extLst>
          </p:cNvPr>
          <p:cNvSpPr/>
          <p:nvPr/>
        </p:nvSpPr>
        <p:spPr>
          <a:xfrm>
            <a:off x="108270" y="4638338"/>
            <a:ext cx="2604022"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Rectangle 24">
            <a:extLst>
              <a:ext uri="{FF2B5EF4-FFF2-40B4-BE49-F238E27FC236}">
                <a16:creationId xmlns:a16="http://schemas.microsoft.com/office/drawing/2014/main" id="{EC63DE82-32CA-EF76-E5A6-9E8671EC815F}"/>
              </a:ext>
            </a:extLst>
          </p:cNvPr>
          <p:cNvSpPr/>
          <p:nvPr/>
        </p:nvSpPr>
        <p:spPr>
          <a:xfrm>
            <a:off x="136263" y="5423876"/>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D9B715C8-1BD9-779D-9FB4-3C7782A14B1E}"/>
              </a:ext>
            </a:extLst>
          </p:cNvPr>
          <p:cNvSpPr/>
          <p:nvPr/>
        </p:nvSpPr>
        <p:spPr>
          <a:xfrm>
            <a:off x="159319" y="6239658"/>
            <a:ext cx="2772155" cy="4922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sz="2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2750A76-092C-2372-707D-F536CF27D1FA}"/>
              </a:ext>
            </a:extLst>
          </p:cNvPr>
          <p:cNvSpPr txBox="1"/>
          <p:nvPr/>
        </p:nvSpPr>
        <p:spPr>
          <a:xfrm>
            <a:off x="3079099" y="1838131"/>
            <a:ext cx="9084908" cy="1477328"/>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just">
              <a:buAutoNum type="arabicPeriod"/>
            </a:pPr>
            <a:r>
              <a:rPr lang="en-US" sz="1800" dirty="0">
                <a:effectLst/>
                <a:latin typeface="Sylfaen" panose="010A0502050306030303" pitchFamily="18" charset="0"/>
                <a:ea typeface="Calibri" panose="020F0502020204030204" pitchFamily="34" charset="0"/>
                <a:cs typeface="Times New Roman" panose="02020603050405020304" pitchFamily="18" charset="0"/>
              </a:rPr>
              <a:t>History need to be kept with dat</a:t>
            </a:r>
            <a:r>
              <a:rPr lang="en-US" dirty="0">
                <a:latin typeface="Sylfaen" panose="010A0502050306030303" pitchFamily="18" charset="0"/>
                <a:ea typeface="Calibri" panose="020F0502020204030204" pitchFamily="34" charset="0"/>
                <a:cs typeface="Times New Roman" panose="02020603050405020304" pitchFamily="18" charset="0"/>
              </a:rPr>
              <a:t>e and time</a:t>
            </a:r>
            <a:r>
              <a:rPr lang="en-US" sz="1800" dirty="0">
                <a:effectLst/>
                <a:latin typeface="Sylfaen" panose="010A0502050306030303" pitchFamily="18" charset="0"/>
                <a:ea typeface="Calibri" panose="020F0502020204030204" pitchFamily="34" charset="0"/>
                <a:cs typeface="Times New Roman" panose="02020603050405020304" pitchFamily="18" charset="0"/>
              </a:rPr>
              <a:t> for all the tasks performed, even if any item is deleted from the system.</a:t>
            </a:r>
          </a:p>
          <a:p>
            <a:pPr marL="342900" indent="-342900" algn="just">
              <a:buAutoNum type="arabicPeriod"/>
            </a:pPr>
            <a:r>
              <a:rPr lang="en-US" sz="1800" dirty="0">
                <a:effectLst/>
                <a:latin typeface="Sylfaen" panose="010A0502050306030303" pitchFamily="18" charset="0"/>
                <a:ea typeface="Calibri" panose="020F0502020204030204" pitchFamily="34" charset="0"/>
                <a:cs typeface="Times New Roman" panose="02020603050405020304" pitchFamily="18" charset="0"/>
              </a:rPr>
              <a:t>Deleted item need to be archived in the “Bin” so that the ite</a:t>
            </a:r>
            <a:r>
              <a:rPr lang="en-US" dirty="0">
                <a:latin typeface="Sylfaen" panose="010A0502050306030303" pitchFamily="18" charset="0"/>
                <a:ea typeface="Calibri" panose="020F0502020204030204" pitchFamily="34" charset="0"/>
                <a:cs typeface="Times New Roman" panose="02020603050405020304" pitchFamily="18" charset="0"/>
              </a:rPr>
              <a:t>m can be restored if required</a:t>
            </a:r>
            <a:r>
              <a:rPr lang="en-US" sz="1800" dirty="0">
                <a:effectLst/>
                <a:latin typeface="Sylfaen" panose="010A0502050306030303" pitchFamily="18" charset="0"/>
                <a:ea typeface="Calibri" panose="020F0502020204030204" pitchFamily="34" charset="0"/>
                <a:cs typeface="Times New Roman" panose="02020603050405020304" pitchFamily="18" charset="0"/>
              </a:rPr>
              <a:t> (“Bin” Auto clear after 1 Year).</a:t>
            </a:r>
          </a:p>
          <a:p>
            <a:pPr marL="342900" indent="-342900" algn="just">
              <a:buAutoNum type="arabicPeriod"/>
            </a:pPr>
            <a:r>
              <a:rPr lang="en-US" dirty="0">
                <a:latin typeface="Sylfaen" panose="010A0502050306030303" pitchFamily="18" charset="0"/>
                <a:ea typeface="Calibri" panose="020F0502020204030204" pitchFamily="34" charset="0"/>
                <a:cs typeface="Times New Roman" panose="02020603050405020304" pitchFamily="18" charset="0"/>
              </a:rPr>
              <a:t>On the reports, default number of items will be “100”. </a:t>
            </a:r>
          </a:p>
        </p:txBody>
      </p:sp>
    </p:spTree>
    <p:extLst>
      <p:ext uri="{BB962C8B-B14F-4D97-AF65-F5344CB8AC3E}">
        <p14:creationId xmlns:p14="http://schemas.microsoft.com/office/powerpoint/2010/main" val="35589356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TM03090430[[fn=Banded]]</Template>
  <TotalTime>8338</TotalTime>
  <Words>2259</Words>
  <Application>Microsoft Office PowerPoint</Application>
  <PresentationFormat>Widescreen</PresentationFormat>
  <Paragraphs>409</Paragraphs>
  <Slides>46</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Bahnschrift Condensed</vt:lpstr>
      <vt:lpstr>Bodoni MT</vt:lpstr>
      <vt:lpstr>Calibri</vt:lpstr>
      <vt:lpstr>Calibri Light</vt:lpstr>
      <vt:lpstr>Corbel</vt:lpstr>
      <vt:lpstr>Sylfaen</vt:lpstr>
      <vt:lpstr>Wingdings</vt:lpstr>
      <vt:lpstr>Banded</vt:lpstr>
      <vt:lpstr>PowerPoint Presentation</vt:lpstr>
      <vt:lpstr>Admin panel view (View Of The Dashboard)</vt:lpstr>
      <vt:lpstr>Profile </vt:lpstr>
      <vt:lpstr>Profile edit form</vt:lpstr>
      <vt:lpstr>Create ADMIN, MANAGER, TECHNICIAN (Technician will have access to created task for 72 hours, then will be automatically deactivated the edit and delete option. Manager will have access to the task for up to 45 days, then edit and delete will be deactivated)</vt:lpstr>
      <vt:lpstr>Create user form with access role</vt:lpstr>
      <vt:lpstr>Work and price</vt:lpstr>
      <vt:lpstr>Create Work and price (Create group and create work type can be on separate page or on the same page. Depending on the work group selection the options to select the “Order Page” will be visible or invisible)</vt:lpstr>
      <vt:lpstr>“Create group form” view</vt:lpstr>
      <vt:lpstr>INDIVIDUAL PRICE (General price create and edit)</vt:lpstr>
      <vt:lpstr>Create client from admin panel (If doctor not interested to create his own account. Also doctor’s details need to be updated on the panel automatically)</vt:lpstr>
      <vt:lpstr>Create client from admin panel (Username and password will be automatically assigned and must be editable. Representative name option need to be listed on the dropdown menu.)</vt:lpstr>
      <vt:lpstr>Create shipping (If doctor not interested to create his own shipping. Also doctor’s shipping details need to be updated on the panel automatically. Shown number of items on the report need to be “50” by default.)</vt:lpstr>
      <vt:lpstr>Create shipping form (On The Form Client Name Will Be Selected From The Dropdown List, Office Name And Address Will Be Auto Filled Upon Selection)</vt:lpstr>
      <vt:lpstr>LAB dashboard </vt:lpstr>
      <vt:lpstr>Requested order (Orders requested by the doctors from their panel can be viewed and edited if required. Option to cancel any order on doctor’s panel and on the backend need to be added, so that an Order can be cancelled if required. If the order is cancelled from the doctor or from the admin, the record will be kept but will not be listed in the work status list.)</vt:lpstr>
      <vt:lpstr>print order (Orders can be printed from the panel)</vt:lpstr>
      <vt:lpstr>Create/or edit order Form -1 (Orders are placed by the doctors Orders can be created manually from the panel when required. Other than the Removable restoration “Multi selection Shade” and the panel on the Right will be visible.  Multiple shade ratio will be indicated as the percentage as color shade matters for teeth. Smile pattern and promo code option will be manageable from the back-end)</vt:lpstr>
      <vt:lpstr>Create/or edit order page-2 (Size limit for the image: 4MB or the doctor can upload any size photo, but it will be automatically resized and  compressed while saving on the system. The Rx section will be used as the follow-up instructions from the doctor. If doctor wants to cancel any instruction, he will be able to strike through the line, so that it can be viewed as history.)</vt:lpstr>
      <vt:lpstr>Create/or edit order Form -1 (Orders are placed by the doctors Orders can be created manually from the panel when required. For Removable restoration “Multi selection Shade” and the panel on the Right will be invisible. Smile pattern and promo code option will be manageable from the back-end)</vt:lpstr>
      <vt:lpstr>Create/or edit order Form -2 (Orders are placed by the doctors Orders can be created manually from the panel when required. For Removable restoration “Multi selection Shade” and the panel on the Right will be invisible. Smile pattern and promo code option will be manageable from the back-end)</vt:lpstr>
      <vt:lpstr>view order (Generate order report for a certain duration on date to date and by client, must start with All Client Option. Representative will be able to see only his own client’s data. Technician will be able to see only his own works. Management will be able to see all. Dedicated Label Printing Button need to be added. The label print will be done for a client, but the printing instruction will be placed from Order list)</vt:lpstr>
      <vt:lpstr>Label printing (Will Be Created As A Separate Functionality to print the delivery label for the trial or completed works)  </vt:lpstr>
      <vt:lpstr>Requested Payment (Requested payment will be displayed in the list for the final approval from the backend.)</vt:lpstr>
      <vt:lpstr>view Payment (Generate Payment report for a certain duration)</vt:lpstr>
      <vt:lpstr>Create Payment (Can be searched by Client or Clinic name. After selecting any from the list, address will be auto filled up.  And the details will be shown after clicking the search button. Initially, the Upload Receipt option will be optional, but later on it will be marked as mandatory)</vt:lpstr>
      <vt:lpstr>Client report (Client name or clinic name need to be selected from drop-down menu. Details of client will be filled-up. Statement can be generated for all time or from date to date)</vt:lpstr>
      <vt:lpstr>Full Statement view</vt:lpstr>
      <vt:lpstr>Date to date Statement view</vt:lpstr>
      <vt:lpstr>Client Summary (Client summary can be search from date to date)</vt:lpstr>
      <vt:lpstr>Client Summary View (Client summary can be search from date to date)</vt:lpstr>
      <vt:lpstr>On behalf Client Summary (Representative Can view their respective client summary. Management can see all the user’s information. View should be assigned from the access list)</vt:lpstr>
      <vt:lpstr>On behalf Client Summary view (View of the On Behalf Client summary Report)</vt:lpstr>
      <vt:lpstr>Invoice search (Search all the invoice or from date to date)</vt:lpstr>
      <vt:lpstr>Invoice View and print (The view of the invoice that should be linked to respective report and order list. Should be linked with the Client report section as well.)</vt:lpstr>
      <vt:lpstr>Work status wise summary (The view of the invoice that should be linked to respective report and order list. Should be linked with the Client report section as well.)</vt:lpstr>
      <vt:lpstr>Work wise summary report view (The view of the invoice that should be linked to respective report and order list. Should be linked with the Client report section as well.)</vt:lpstr>
      <vt:lpstr>Work status wise summary report view (The view of the invoice that should be linked to respective report and order list. Should be linked with the Client report section as well.)</vt:lpstr>
      <vt:lpstr>Invoice summary (The view of the invoice that should be linked to respective report and order list. Should be linked with the Client report section as well.)</vt:lpstr>
      <vt:lpstr>payment summary (The summary of the payment will be displayed upon selection of all payment or individual client wise)</vt:lpstr>
      <vt:lpstr>payment summary all payment view (The summary of the payment will be displayed upon selection of all payment or individual client)</vt:lpstr>
      <vt:lpstr>payment summary client wise view (This will be the view for the individual client payment summary)</vt:lpstr>
      <vt:lpstr>Online Chat option view on doctor’s panel (Upon Click Of The Chat Button On The Panel, this chat area will be opened as the first instance. Doctor will then click the plus sign to add fields like Upload Image, Upload File)</vt:lpstr>
      <vt:lpstr>Online Chat option view on doctor’s panel (When the plus sign is clicked, following options will be available for doctor's use. Doctor can upload image or upload file according to the requirement)</vt:lpstr>
      <vt:lpstr>QR code scan option from smartphone (Will be scanned by the respective departments. Respective QR Code Scan Option Will Be Available For An Order, Invoice against an order won’t be available to print unless “Delivered” scan is done. QR code scan option must be available through smartphone. Access rule need to be applied for the users of the QR code option.)</vt:lpstr>
      <vt:lpstr>special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sohel Chowdhury</dc:creator>
  <cp:lastModifiedBy>Md sohel Chowdhury</cp:lastModifiedBy>
  <cp:revision>302</cp:revision>
  <dcterms:created xsi:type="dcterms:W3CDTF">2022-05-25T06:50:37Z</dcterms:created>
  <dcterms:modified xsi:type="dcterms:W3CDTF">2022-07-13T01:53:46Z</dcterms:modified>
</cp:coreProperties>
</file>